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933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 Database Management System for Laboratory Equipment Booking and Maintenance System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237744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Shaurya Dhingra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108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 </a:t>
            </a: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25WU0102254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IS NEEDED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Laboratories currently manage equipment, users, bookings, usage, calibration, consumables and maintenance manually (registers / spreadsheets). This creates conflicts and leaves weak, unreliable equipment histories — with no single source of truth for who used what, when, and in what condition.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89304" y="2724912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9304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33832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Conflicts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977640"/>
            <a:ext cx="177393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scheduling leads to double-bookings and clashing reservations for the same equipment / time slot.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724912" y="246888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57016" y="2724912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57016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871216" y="33832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Usage History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907792" y="3977640"/>
            <a:ext cx="177393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usage is not logged consistently, so utilization and downtime cannot be analysed.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992624" y="246888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24728" y="2724912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24728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138928" y="33832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Risk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3977640"/>
            <a:ext cx="177393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due-dates are tracked informally, risking non-compliance and inaccurate readings.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260336" y="246888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92440" y="2724912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92440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33832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Consumable Shortages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443216" y="3977640"/>
            <a:ext cx="177393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 for consumables are not monitored, causing last-minute shortages.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528048" y="246888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60152" y="2724912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360152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674352" y="3383280"/>
            <a:ext cx="1847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Breakdown Records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710928" y="3977640"/>
            <a:ext cx="177393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Breakdowns and vendor servicing are not systematically recorded or followed up.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WILL AND WILL NOT COVER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532120" cy="4663440"/>
          </a:xfrm>
          <a:prstGeom prst="roundRect">
            <a:avLst>
              <a:gd name="adj" fmla="val 1569"/>
            </a:avLst>
          </a:prstGeom>
          <a:solidFill>
            <a:srgbClr val="EAF2F7"/>
          </a:solidFill>
          <a:ln/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1618488"/>
            <a:ext cx="5020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002536"/>
            <a:ext cx="5020056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 (ER model) → normalized (3NF) relational schema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Equipment, booking, usage-log, consumable, calibration, breakdown and maintenance data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/ approval workflow with conflict prevention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 stock tracking with reorder limits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and maintenance due-date tracking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Python front-end for CRUD operations, search and reporting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different user types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1417320"/>
            <a:ext cx="5532120" cy="4663440"/>
          </a:xfrm>
          <a:prstGeom prst="roundRect">
            <a:avLst>
              <a:gd name="adj" fmla="val 1569"/>
            </a:avLst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55664" y="1618488"/>
            <a:ext cx="5020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2002536"/>
            <a:ext cx="5020056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IoT / sensor integration with lab instruments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invoicing and financial / payment processing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third-party procurement or e-commerce integration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native application (web / desktop client only)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identity management (institution SSO)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4160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6656" y="1924812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19248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53312" y="1591056"/>
            <a:ext cx="4343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(3NF) relational schema for the laboratory equipment booking &amp; maintenance domain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37376" y="1924812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37376" y="19248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14032" y="1591056"/>
            <a:ext cx="4343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business rules such as no overlapping approved bookings for the same equipment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" y="3598164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6656" y="35981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3264408"/>
            <a:ext cx="4343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 accurate, queryable history of equipment usage, calibration and breakdowns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136392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37376" y="3598164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37376" y="35981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264408"/>
            <a:ext cx="4343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consumable stock levels and flag reorder needs automatically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809744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" y="5271516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" y="52715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53312" y="4937760"/>
            <a:ext cx="4343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Java / Python front-end supporting CRUD, search, approval and reporting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4809744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37376" y="5271516"/>
            <a:ext cx="493776" cy="49377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37376" y="52715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114032" y="4937760"/>
            <a:ext cx="43434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role-based access for technicians, managers, maintenance staff and administrators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INTERACTS WITH THE SYSTEM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&amp; Roles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51760" cy="4297680"/>
          </a:xfrm>
          <a:prstGeom prst="roundRect">
            <a:avLst>
              <a:gd name="adj" fmla="val 2759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876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087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60604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Technician / Equipment User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2044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equipment availability, creates bookings, logs actual usage.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2651760" cy="4297680"/>
          </a:xfrm>
          <a:prstGeom prst="roundRect">
            <a:avLst>
              <a:gd name="adj" fmla="val 2759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434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260604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Manager / Admin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352044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 bookings, manages equipment, categories and vendors.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2651760" cy="4297680"/>
          </a:xfrm>
          <a:prstGeom prst="roundRect">
            <a:avLst>
              <a:gd name="adj" fmla="val 2759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7804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780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260604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Staff / Coordinator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52044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breakdowns, schedules and tracks maintenance jobs with vendors.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1554480"/>
            <a:ext cx="2651760" cy="4297680"/>
          </a:xfrm>
          <a:prstGeom prst="roundRect">
            <a:avLst>
              <a:gd name="adj" fmla="val 2759"/>
            </a:avLst>
          </a:prstGeom>
          <a:solidFill>
            <a:srgbClr val="CADCFC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1268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126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125712" y="260604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Administrator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0" y="352044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 accounts, roles and master data across laboratories.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THE SYSTEM MUST SUPPORT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532120" cy="4663440"/>
          </a:xfrm>
          <a:prstGeom prst="roundRect">
            <a:avLst>
              <a:gd name="adj" fmla="val 1569"/>
            </a:avLst>
          </a:prstGeom>
          <a:solidFill>
            <a:srgbClr val="EAF2F7"/>
          </a:solidFill>
          <a:ln/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1618488"/>
            <a:ext cx="5020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&amp; Usage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002536"/>
            <a:ext cx="5020056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equipment by category, laboratory and time-slot availability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approve / reject bookings with status tracking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overlapping approved bookings for the same equipment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actual usage start / end time and remarks per booking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1417320"/>
            <a:ext cx="5532120" cy="4663440"/>
          </a:xfrm>
          <a:prstGeom prst="roundRect">
            <a:avLst>
              <a:gd name="adj" fmla="val 1569"/>
            </a:avLst>
          </a:prstGeom>
          <a:solidFill>
            <a:srgbClr val="CADCFC"/>
          </a:solidFill>
          <a:ln/>
          <a:effectLst>
            <a:outerShdw blurRad="76200" dist="25400" dir="5400000" algn="bl" rotWithShape="0">
              <a:srgbClr val="1B243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55664" y="1618488"/>
            <a:ext cx="5020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&amp; Reporting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2002536"/>
            <a:ext cx="5020056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consumables and track stock against reorder levels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calibration and monitor due dates per equipment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breakdowns and assign maintenance jobs to vendors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reports: utilization, downtime, calibration-due, vendor service history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THROUGH THE SCHEMA DESIGN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Rules &amp; Constraints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7099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16733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Overlapping Bookings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221992"/>
            <a:ext cx="3209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approved booking per equipment for a given time slot.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5087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53128" y="17099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5312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10328" y="16733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Equipment Only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453128" y="2221992"/>
            <a:ext cx="3209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must be in “Active” status to be reservable.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15087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47888" y="17099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47888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705088" y="167335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Calibration Dates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247888" y="2221992"/>
            <a:ext cx="3209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Next-due date must be later than the calibration date.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38130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115568" y="377647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Limits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4325112"/>
            <a:ext cx="3209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 stock cannot silently fall below its defined reorder level.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51960" y="36118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53128" y="38130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5312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910328" y="377647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Completion Dates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453128" y="4325112"/>
            <a:ext cx="3209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job completion date must be on/after the job date.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361188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EAF2F7"/>
          </a:solidFill>
          <a:ln/>
          <a:effectLst>
            <a:outerShdw blurRad="63500" dist="25400" dir="5400000" algn="bl" rotWithShape="0">
              <a:srgbClr val="1B243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47888" y="381304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4788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705088" y="377647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Referential Integrity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247888" y="4325112"/>
            <a:ext cx="3209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/ FOREIGN KEY, UNIQUE, NOT NULL, CHECK and DEFAULT constraints throughout.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ENTITIES IDENTIFIED FROM REQUIREMENTS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Design — Principal Entities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AF2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" y="159105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04825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lab housing equipment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56432" y="159105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EquipmentCategory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204825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of equipment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AF2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91072" y="159105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91072" y="204825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bookable item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961120" y="146304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25712" y="159105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25712" y="204825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Technician, manager or admin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" y="314553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TimeSlot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360273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Bookable date / time window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3291840" y="30175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AF2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56432" y="314553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456432" y="360273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of equipment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91072" y="314553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UsageLog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91072" y="360273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usage record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961120" y="301752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AF2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25712" y="314553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Consumable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25712" y="360273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used with equipment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AF2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1792" y="470001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" y="515721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event &amp; due date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3291840" y="45720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456432" y="470001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Breakdown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3456432" y="515721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equipment fault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126480" y="45720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EAF2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91072" y="470001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MaintenanceJob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291072" y="515721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/ service job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8961120" y="4572000"/>
            <a:ext cx="269748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25712" y="470001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125712" y="515721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 provider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 OF THE TWELVE ENTITIES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(ER) Diagram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763649" y="2247900"/>
            <a:ext cx="2887218" cy="9144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50867" y="2247900"/>
            <a:ext cx="2887218" cy="9144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0867" y="2247900"/>
            <a:ext cx="9144" cy="166116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763649" y="2247900"/>
            <a:ext cx="2887218" cy="166116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50867" y="2247900"/>
            <a:ext cx="2887218" cy="166116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50867" y="2247900"/>
            <a:ext cx="2887218" cy="332232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7538085" y="2247900"/>
            <a:ext cx="2887218" cy="166116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5303" y="2247900"/>
            <a:ext cx="9144" cy="166116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0867" y="3909060"/>
            <a:ext cx="9144" cy="166116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1763649" y="3909060"/>
            <a:ext cx="2887218" cy="166116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0867" y="3909060"/>
            <a:ext cx="5774436" cy="166116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7538085" y="3909060"/>
            <a:ext cx="2887218" cy="1661160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4650867" y="5570220"/>
            <a:ext cx="2887218" cy="9144"/>
          </a:xfrm>
          <a:prstGeom prst="line">
            <a:avLst/>
          </a:prstGeom>
          <a:noFill/>
          <a:ln w="19050">
            <a:solidFill>
              <a:srgbClr val="9FB3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7789" y="1781556"/>
            <a:ext cx="23317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7789" y="1781556"/>
            <a:ext cx="23317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22" name="Shape 20"/>
          <p:cNvSpPr/>
          <p:nvPr/>
        </p:nvSpPr>
        <p:spPr>
          <a:xfrm>
            <a:off x="597789" y="1964436"/>
            <a:ext cx="233172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97789" y="17815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97789" y="214731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LabID (PK)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85007" y="1781556"/>
            <a:ext cx="23317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85007" y="1781556"/>
            <a:ext cx="23317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27" name="Shape 25"/>
          <p:cNvSpPr/>
          <p:nvPr/>
        </p:nvSpPr>
        <p:spPr>
          <a:xfrm>
            <a:off x="3485007" y="1964436"/>
            <a:ext cx="233172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85007" y="17815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485007" y="214731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EquipmentID (PK)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72225" y="1781556"/>
            <a:ext cx="23317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72225" y="1781556"/>
            <a:ext cx="23317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32" name="Shape 30"/>
          <p:cNvSpPr/>
          <p:nvPr/>
        </p:nvSpPr>
        <p:spPr>
          <a:xfrm>
            <a:off x="6372225" y="1964436"/>
            <a:ext cx="233172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72225" y="17815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EquipmentCategory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372225" y="214731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CategoryID (PK)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259443" y="1781556"/>
            <a:ext cx="23317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59443" y="1781556"/>
            <a:ext cx="23317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37" name="Shape 35"/>
          <p:cNvSpPr/>
          <p:nvPr/>
        </p:nvSpPr>
        <p:spPr>
          <a:xfrm>
            <a:off x="9259443" y="1964436"/>
            <a:ext cx="233172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259443" y="17815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259443" y="214731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VendorID (PK)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7789" y="3442716"/>
            <a:ext cx="23317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7789" y="3442716"/>
            <a:ext cx="23317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42" name="Shape 40"/>
          <p:cNvSpPr/>
          <p:nvPr/>
        </p:nvSpPr>
        <p:spPr>
          <a:xfrm>
            <a:off x="597789" y="3625596"/>
            <a:ext cx="233172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97789" y="34427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597789" y="380847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ConsumableID (PK)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85007" y="3442716"/>
            <a:ext cx="23317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485007" y="3442716"/>
            <a:ext cx="23317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47" name="Shape 45"/>
          <p:cNvSpPr/>
          <p:nvPr/>
        </p:nvSpPr>
        <p:spPr>
          <a:xfrm>
            <a:off x="3485007" y="3625596"/>
            <a:ext cx="233172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485007" y="34427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3485007" y="380847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BookingID (PK)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72225" y="3442716"/>
            <a:ext cx="23317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72225" y="3442716"/>
            <a:ext cx="23317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52" name="Shape 50"/>
          <p:cNvSpPr/>
          <p:nvPr/>
        </p:nvSpPr>
        <p:spPr>
          <a:xfrm>
            <a:off x="6372225" y="3625596"/>
            <a:ext cx="233172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372225" y="34427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6372225" y="380847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CalibrationID (PK)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259443" y="3442716"/>
            <a:ext cx="23317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259443" y="3442716"/>
            <a:ext cx="23317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57" name="Shape 55"/>
          <p:cNvSpPr/>
          <p:nvPr/>
        </p:nvSpPr>
        <p:spPr>
          <a:xfrm>
            <a:off x="9259443" y="3625596"/>
            <a:ext cx="233172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259443" y="34427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MaintenanceJob</a:t>
            </a:r>
            <a:endParaRPr lang="en-US" sz="1150" dirty="0"/>
          </a:p>
        </p:txBody>
      </p:sp>
      <p:sp>
        <p:nvSpPr>
          <p:cNvPr id="59" name="Text 57"/>
          <p:cNvSpPr txBox="1"/>
          <p:nvPr/>
        </p:nvSpPr>
        <p:spPr>
          <a:xfrm>
            <a:off x="9259443" y="380847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JobID (PK)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97789" y="5103876"/>
            <a:ext cx="23317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97789" y="5103876"/>
            <a:ext cx="23317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62" name="Shape 60"/>
          <p:cNvSpPr/>
          <p:nvPr/>
        </p:nvSpPr>
        <p:spPr>
          <a:xfrm>
            <a:off x="597789" y="5286756"/>
            <a:ext cx="233172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597789" y="51038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TimeSlot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597789" y="546963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SlotID (PK)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485007" y="5103876"/>
            <a:ext cx="23317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485007" y="5103876"/>
            <a:ext cx="23317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67" name="Shape 65"/>
          <p:cNvSpPr/>
          <p:nvPr/>
        </p:nvSpPr>
        <p:spPr>
          <a:xfrm>
            <a:off x="3485007" y="5286756"/>
            <a:ext cx="233172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3485007" y="51038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69" name="Text 67"/>
          <p:cNvSpPr txBox="1"/>
          <p:nvPr/>
        </p:nvSpPr>
        <p:spPr>
          <a:xfrm>
            <a:off x="3485007" y="546963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(PK)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72225" y="5103876"/>
            <a:ext cx="23317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372225" y="5103876"/>
            <a:ext cx="23317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72" name="Shape 70"/>
          <p:cNvSpPr/>
          <p:nvPr/>
        </p:nvSpPr>
        <p:spPr>
          <a:xfrm>
            <a:off x="6372225" y="5286756"/>
            <a:ext cx="233172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372225" y="51038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150" dirty="0"/>
          </a:p>
        </p:txBody>
      </p:sp>
      <p:sp>
        <p:nvSpPr>
          <p:cNvPr id="74" name="Text 72"/>
          <p:cNvSpPr txBox="1"/>
          <p:nvPr/>
        </p:nvSpPr>
        <p:spPr>
          <a:xfrm>
            <a:off x="6372225" y="546963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BreakdownID (PK)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9259443" y="5103876"/>
            <a:ext cx="233172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1B2430">
                <a:alpha val="15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9259443" y="5103876"/>
            <a:ext cx="2331720" cy="329184"/>
          </a:xfrm>
          <a:prstGeom prst="roundRect">
            <a:avLst>
              <a:gd name="adj" fmla="val 19444"/>
            </a:avLst>
          </a:prstGeom>
          <a:solidFill>
            <a:srgbClr val="065A82"/>
          </a:solidFill>
          <a:ln/>
        </p:spPr>
      </p:sp>
      <p:sp>
        <p:nvSpPr>
          <p:cNvPr id="77" name="Shape 75"/>
          <p:cNvSpPr/>
          <p:nvPr/>
        </p:nvSpPr>
        <p:spPr>
          <a:xfrm>
            <a:off x="9259443" y="5286756"/>
            <a:ext cx="233172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9259443" y="51038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UsageLog</a:t>
            </a:r>
            <a:endParaRPr lang="en-US" sz="1150" dirty="0"/>
          </a:p>
        </p:txBody>
      </p:sp>
      <p:sp>
        <p:nvSpPr>
          <p:cNvPr id="79" name="Text 77"/>
          <p:cNvSpPr txBox="1"/>
          <p:nvPr/>
        </p:nvSpPr>
        <p:spPr>
          <a:xfrm>
            <a:off x="9259443" y="546963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LogID (PK)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3200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relationships shown are 1 : N (one-to-many), enforced via foreign keys.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TABLES, PRIMARY KEYS &amp; FOREIGN KEYS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Relational Schema (1/2)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396849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Attributes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Location, Capacity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CategoryName, 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LabID, CategoryID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Model,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Role, Email, Department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StartTime, EndTime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ContactInfo, ServiceType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TABLES, PRIMARY KEYS &amp; FOREIGN KEYS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Relational Schema (2/2)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74552" cy="396849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Attributes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EquipmentID, UserID, SlotID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BookingDate, Status, ApprovedBy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ActualStart, ActualEnd, Remarks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ConsumableID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StockQty, ReorderLevel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EquipmentID, VendorID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CalibrationDate, NextDueDate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BreakdownID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EquipmentID, ReportedBy (UserID)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ReportedDate, Description, Severity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MaintenanceJob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BreakdownID, EquipmentID, VendorID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JobDate, CompletionDate, Cost,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RELATIONSHIPS VIA FOREIGN KEYS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60350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Relationships Overview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EAF2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5087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(1) — (N) Equipment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130552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1305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EquipmentCategory (1) — (N) Equipment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75234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EAF2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75234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(1) — (N) Booking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374136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37413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(1) — (N) Consumable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995928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EAF2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99592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(1) — (N) Calibration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6177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(1) — (N) Breakdown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5239512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EAF2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23951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(1) — (N) Booking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1508760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EAF2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15087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TimeSlot (1) — (N) Booking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2130552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46520" y="213055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(1) — (N) UsageLog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2752344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EAF2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275234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(1) — (N) Calibration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63640" y="3374136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46520" y="337413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(1) — (N) MaintenanceJob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63640" y="3995928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EAF2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399592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(1) — (N) MaintenanceJob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63640" y="4617720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46520" y="46177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(1) — (N) Breakdown  (reported by)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8200" y="2916555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96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1096</Words>
  <Application>Microsoft Office PowerPoint</Application>
  <PresentationFormat>Widescreen</PresentationFormat>
  <Paragraphs>249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Shaurya Dhingra</cp:lastModifiedBy>
  <cp:revision>2</cp:revision>
  <dcterms:created xsi:type="dcterms:W3CDTF">2026-09-02T09:47:44Z</dcterms:created>
  <dcterms:modified xsi:type="dcterms:W3CDTF">2026-09-02T10:02:37Z</dcterms:modified>
</cp:coreProperties>
</file>