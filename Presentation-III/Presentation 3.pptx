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4184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afternoon. I am Shaurya Dhingra, Project 29 - Laboratory Equipment Booking and Maintenance System. In Presentation I </a:t>
            </a:r>
            <a:r>
              <a:rPr dirty="0" err="1"/>
              <a:t>I</a:t>
            </a:r>
            <a:r>
              <a:rPr dirty="0"/>
              <a:t> showed the problem, in Presentation II the database design. Today I will demonstrate the working user interface connected to MySQL: view, insert and delete, live.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Quick recap. P1: why the system is needed, scope, requirements. P2: ER diagram, 10 tables, constraints, sample data with 30 rows each. P3 (today): the working UI. Mention: the design was simplified between P1 and P2 - 10 focused tables, with payment recorded as a table (no online payment gateway).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ER diagram from Presentation II. USER makes BOOKING; BOOKING is for EQUIPMENT; each booking can have one PAYMENT and one FEEDBACK. EQUIPMENT belongs to a LABORATORY and a CATEGORY and undergoes MAINTENANCE, which is performed by a TECHNICIAN and classified by MAINTENANCE_TYPE. These foreign keys are what protect the data - you will see the database refuse a delete that would orphan records.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layers. The browser sends a request; Flask validates it and applies the business rules; PyMySQL runs a parameterised SQL statement on MySQL; the result comes back as a page. Parameterised queries prevent SQL injection. The same SQL that I run in the MySQL console is shown on screen after every operation, so the change in the database is visible.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home screen. Top row: live numbers calculated by SQL queries - total equipment units, equipment ready to book, pending bookings, overdue maintenance, payments received. Below are the ten tables with their current row counts. The bottom panel is the live change log: every insert and delete I make appears here with the exact SQL.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VIEW. Opening Bookings runs SELECT * FROM BOOKING ordered newest first, 12 rows per page. Foreign keys are shown as readable names - user 5 is Arjun Kumar, equipment 6 is Creality Ender 3D Printer - by looking up the referenced tables. The query used is displayed at the bottom. The search box filters with LIKE across several columns. DEMO: open Bookings, type 'pending' in search.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INSERT. I click Add booking. Drop-downs are filled from the USER and EQUIPMENT tables so only valid foreign keys can be chosen. I pick user, equipment, date and time and save. The app runs INSERT INTO BOOKING, the green banner confirms it, the SQL is displayed, the row count moves from 30 to 31 and the new row is highlighted at the top. DEMO: do this live, then show the same row in the MySQL console with SELECT * FROM BOOKING ORDER BY booking_id DESC LIMIT 1.</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DELETE. I click Delete on the new booking. A confirmation page shows exactly which record will be removed - no accidental deletes. On confirming, the app runs DELETE FROM BOOKING WHERE booking_id = 31 and the count returns to 30. Important for DBMS: if I try to delete a booking that still has a payment, MySQL's foreign key refuses it, and the app explains why. DEMO: delete the booking I just added; then try to delete booking 1 to show the FK protection.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business rules promised in Presentation I. Left: I try to confirm a booking for the 3D printer Prusa MK4 on 2 October 10 to 12; booking 11 already holds 9 to 11, so the system rejects it - no double booking. Right: I try to book the centrifuge, which is Under Maintenance - rejected. Other checks: end time after start time, valid email, 10-digit phone, positive amount, next maintenance date after maintenance date, unique email and serial number from the database itself.</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analysis queries run live from the Reports page: a 4-table JOIN for booking details, bookings per equipment with GROUP BY, overdue maintenance using a date comparison, equipment needing attention, payment totals by status using SUM, and average rating per equipment using AVG. The SQL of every report is displayed above its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tested valid and invalid cases for each operation. All of these behaved as expected. Highlight the integrity tests: duplicate email rejected by UNIQUE, delete of a referenced record rejected by the foreign key.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the project delivers a normalised 10-table MySQL database and a working interface for insert, delete and view with business rules enforced. Future work: login with roles, online payment gateway, email reminders for calibration, QR-code check-in of equipment, and a mobile app. Thank you - I am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Questions welcome.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8229600" cy="365760"/>
          </a:xfrm>
          <a:prstGeom prst="rect">
            <a:avLst/>
          </a:prstGeom>
          <a:noFill/>
        </p:spPr>
        <p:txBody>
          <a:bodyPr wrap="square" lIns="45720" tIns="18288" rIns="45720" bIns="18288" anchor="t">
            <a:spAutoFit/>
          </a:bodyPr>
          <a:lstStyle/>
          <a:p>
            <a:pPr algn="l"/>
            <a:r>
              <a:rPr sz="1400" b="0">
                <a:solidFill>
                  <a:srgbClr val="F5E8C7"/>
                </a:solidFill>
                <a:latin typeface="Calibri"/>
              </a:rPr>
              <a:t>DATABASE MANAGEMENT SYSTEM  ·  FINAL PRESENTATION (III)</a:t>
            </a:r>
          </a:p>
        </p:txBody>
      </p:sp>
      <p:sp>
        <p:nvSpPr>
          <p:cNvPr id="3" name="TextBox 2"/>
          <p:cNvSpPr txBox="1"/>
          <p:nvPr/>
        </p:nvSpPr>
        <p:spPr>
          <a:xfrm>
            <a:off x="640080" y="1051560"/>
            <a:ext cx="10607040" cy="2926080"/>
          </a:xfrm>
          <a:prstGeom prst="rect">
            <a:avLst/>
          </a:prstGeom>
          <a:noFill/>
        </p:spPr>
        <p:txBody>
          <a:bodyPr wrap="square" lIns="45720" tIns="18288" rIns="45720" bIns="18288" anchor="t">
            <a:spAutoFit/>
          </a:bodyPr>
          <a:lstStyle/>
          <a:p>
            <a:pPr algn="l"/>
            <a:r>
              <a:rPr sz="5400" b="0">
                <a:solidFill>
                  <a:srgbClr val="F5E8C7"/>
                </a:solidFill>
                <a:latin typeface="Impact"/>
              </a:rPr>
              <a:t>LABORATORY EQUIPMENT</a:t>
            </a:r>
          </a:p>
          <a:p>
            <a:pPr algn="l"/>
            <a:r>
              <a:rPr sz="5400" b="0">
                <a:solidFill>
                  <a:srgbClr val="F5E8C7"/>
                </a:solidFill>
                <a:latin typeface="Impact"/>
              </a:rPr>
              <a:t>BOOKING &amp; MAINTENANCE</a:t>
            </a:r>
          </a:p>
          <a:p>
            <a:pPr algn="l"/>
            <a:r>
              <a:rPr sz="5400" b="0">
                <a:solidFill>
                  <a:srgbClr val="F5E8C7"/>
                </a:solidFill>
                <a:latin typeface="Impact"/>
              </a:rPr>
              <a:t>MANAGEMENT SYSTEM</a:t>
            </a:r>
          </a:p>
        </p:txBody>
      </p:sp>
      <p:sp>
        <p:nvSpPr>
          <p:cNvPr id="4" name="TextBox 3"/>
          <p:cNvSpPr txBox="1"/>
          <p:nvPr/>
        </p:nvSpPr>
        <p:spPr>
          <a:xfrm>
            <a:off x="640080" y="4160520"/>
            <a:ext cx="10058400" cy="375487"/>
          </a:xfrm>
          <a:prstGeom prst="rect">
            <a:avLst/>
          </a:prstGeom>
          <a:noFill/>
        </p:spPr>
        <p:txBody>
          <a:bodyPr wrap="square" lIns="45720" tIns="18288" rIns="45720" bIns="18288" anchor="t">
            <a:spAutoFit/>
          </a:bodyPr>
          <a:lstStyle/>
          <a:p>
            <a:pPr algn="l"/>
            <a:r>
              <a:rPr sz="2200" b="1" dirty="0">
                <a:solidFill>
                  <a:srgbClr val="F5E8C7"/>
                </a:solidFill>
                <a:latin typeface="Calibri"/>
              </a:rPr>
              <a:t>Working User Interface connected to MySQL  —  Insert </a:t>
            </a:r>
            <a:r>
              <a:rPr lang="en-IN" sz="2200" b="1" dirty="0">
                <a:solidFill>
                  <a:srgbClr val="F5E8C7"/>
                </a:solidFill>
                <a:latin typeface="Calibri"/>
              </a:rPr>
              <a:t>-</a:t>
            </a:r>
            <a:r>
              <a:rPr sz="2200" b="1" dirty="0">
                <a:solidFill>
                  <a:srgbClr val="F5E8C7"/>
                </a:solidFill>
                <a:latin typeface="Calibri"/>
              </a:rPr>
              <a:t> Delete </a:t>
            </a:r>
            <a:r>
              <a:rPr lang="en-IN" sz="2200" b="1" dirty="0">
                <a:solidFill>
                  <a:srgbClr val="F5E8C7"/>
                </a:solidFill>
                <a:latin typeface="Calibri"/>
              </a:rPr>
              <a:t>- </a:t>
            </a:r>
            <a:r>
              <a:rPr sz="2200" b="1" dirty="0">
                <a:solidFill>
                  <a:srgbClr val="F5E8C7"/>
                </a:solidFill>
                <a:latin typeface="Calibri"/>
              </a:rPr>
              <a:t>View</a:t>
            </a:r>
          </a:p>
        </p:txBody>
      </p:sp>
      <p:sp>
        <p:nvSpPr>
          <p:cNvPr id="5" name="TextBox 4"/>
          <p:cNvSpPr txBox="1"/>
          <p:nvPr/>
        </p:nvSpPr>
        <p:spPr>
          <a:xfrm>
            <a:off x="640080" y="5120640"/>
            <a:ext cx="7315200" cy="529376"/>
          </a:xfrm>
          <a:prstGeom prst="rect">
            <a:avLst/>
          </a:prstGeom>
          <a:noFill/>
        </p:spPr>
        <p:txBody>
          <a:bodyPr wrap="square" lIns="45720" tIns="18288" rIns="45720" bIns="18288" anchor="t">
            <a:spAutoFit/>
          </a:bodyPr>
          <a:lstStyle/>
          <a:p>
            <a:pPr algn="l"/>
            <a:r>
              <a:rPr sz="1600" b="0" dirty="0">
                <a:solidFill>
                  <a:srgbClr val="F5E8C7"/>
                </a:solidFill>
                <a:latin typeface="Calibri"/>
              </a:rPr>
              <a:t>SHAURYA DHINGRA - 25WU0102254</a:t>
            </a:r>
          </a:p>
          <a:p>
            <a:pPr algn="l"/>
            <a:r>
              <a:rPr sz="1600" b="0" dirty="0">
                <a:solidFill>
                  <a:srgbClr val="F5E8C7"/>
                </a:solidFill>
                <a:latin typeface="Calibri"/>
              </a:rPr>
              <a:t>AIML WHALES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PROJECT JOURNEY</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From problem statement to a working system</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2</a:t>
            </a:r>
          </a:p>
        </p:txBody>
      </p:sp>
      <p:sp>
        <p:nvSpPr>
          <p:cNvPr id="6" name="Rectangle 5"/>
          <p:cNvSpPr/>
          <p:nvPr/>
        </p:nvSpPr>
        <p:spPr>
          <a:xfrm>
            <a:off x="548640" y="1554480"/>
            <a:ext cx="3566160" cy="420624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691640"/>
            <a:ext cx="3200400" cy="320040"/>
          </a:xfrm>
          <a:prstGeom prst="rect">
            <a:avLst/>
          </a:prstGeom>
          <a:noFill/>
        </p:spPr>
        <p:txBody>
          <a:bodyPr wrap="square" lIns="45720" tIns="18288" rIns="45720" bIns="18288" anchor="t">
            <a:spAutoFit/>
          </a:bodyPr>
          <a:lstStyle/>
          <a:p>
            <a:pPr algn="l"/>
            <a:r>
              <a:rPr sz="1200" b="1">
                <a:solidFill>
                  <a:srgbClr val="1E3A8A"/>
                </a:solidFill>
                <a:latin typeface="Calibri"/>
              </a:rPr>
              <a:t>PRESENTATION I</a:t>
            </a:r>
          </a:p>
        </p:txBody>
      </p:sp>
      <p:sp>
        <p:nvSpPr>
          <p:cNvPr id="8" name="TextBox 7"/>
          <p:cNvSpPr txBox="1"/>
          <p:nvPr/>
        </p:nvSpPr>
        <p:spPr>
          <a:xfrm>
            <a:off x="731520" y="2011680"/>
            <a:ext cx="3200400" cy="548640"/>
          </a:xfrm>
          <a:prstGeom prst="rect">
            <a:avLst/>
          </a:prstGeom>
          <a:noFill/>
        </p:spPr>
        <p:txBody>
          <a:bodyPr wrap="square" lIns="45720" tIns="18288" rIns="45720" bIns="18288" anchor="t">
            <a:spAutoFit/>
          </a:bodyPr>
          <a:lstStyle/>
          <a:p>
            <a:pPr algn="l"/>
            <a:r>
              <a:rPr sz="2200" b="0">
                <a:solidFill>
                  <a:srgbClr val="1E3A8A"/>
                </a:solidFill>
                <a:latin typeface="Impact"/>
              </a:rPr>
              <a:t>Problem Description</a:t>
            </a:r>
          </a:p>
        </p:txBody>
      </p:sp>
      <p:sp>
        <p:nvSpPr>
          <p:cNvPr id="9" name="TextBox 8"/>
          <p:cNvSpPr txBox="1"/>
          <p:nvPr/>
        </p:nvSpPr>
        <p:spPr>
          <a:xfrm>
            <a:off x="731520" y="2743200"/>
            <a:ext cx="3200400" cy="3108960"/>
          </a:xfrm>
          <a:prstGeom prst="rect">
            <a:avLst/>
          </a:prstGeom>
          <a:noFill/>
        </p:spPr>
        <p:txBody>
          <a:bodyPr wrap="square">
            <a:spAutoFit/>
          </a:bodyPr>
          <a:lstStyle/>
          <a:p>
            <a:pPr>
              <a:spcAft>
                <a:spcPts val="1000"/>
              </a:spcAft>
            </a:pPr>
            <a:r>
              <a:rPr sz="1800">
                <a:solidFill>
                  <a:srgbClr val="47423E"/>
                </a:solidFill>
                <a:latin typeface="Calibri"/>
              </a:rPr>
              <a:t>•  Manual registers cause double-bookings</a:t>
            </a:r>
          </a:p>
          <a:p>
            <a:pPr>
              <a:spcAft>
                <a:spcPts val="1000"/>
              </a:spcAft>
            </a:pPr>
            <a:r>
              <a:rPr sz="1800">
                <a:solidFill>
                  <a:srgbClr val="47423E"/>
                </a:solidFill>
                <a:latin typeface="Calibri"/>
              </a:rPr>
              <a:t>•  No usage / maintenance history</a:t>
            </a:r>
          </a:p>
          <a:p>
            <a:pPr>
              <a:spcAft>
                <a:spcPts val="1000"/>
              </a:spcAft>
            </a:pPr>
            <a:r>
              <a:rPr sz="1800">
                <a:solidFill>
                  <a:srgbClr val="47423E"/>
                </a:solidFill>
                <a:latin typeface="Calibri"/>
              </a:rPr>
              <a:t>•  Scope, objectives, user roles</a:t>
            </a:r>
          </a:p>
          <a:p>
            <a:pPr>
              <a:spcAft>
                <a:spcPts val="1000"/>
              </a:spcAft>
            </a:pPr>
            <a:r>
              <a:rPr sz="1800">
                <a:solidFill>
                  <a:srgbClr val="47423E"/>
                </a:solidFill>
                <a:latin typeface="Calibri"/>
              </a:rPr>
              <a:t>•  Business rules identified</a:t>
            </a:r>
          </a:p>
        </p:txBody>
      </p:sp>
      <p:sp>
        <p:nvSpPr>
          <p:cNvPr id="10" name="Rectangle 9"/>
          <p:cNvSpPr/>
          <p:nvPr/>
        </p:nvSpPr>
        <p:spPr>
          <a:xfrm>
            <a:off x="4389120" y="1554480"/>
            <a:ext cx="3566160" cy="420624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0" y="1691640"/>
            <a:ext cx="3200400" cy="320040"/>
          </a:xfrm>
          <a:prstGeom prst="rect">
            <a:avLst/>
          </a:prstGeom>
          <a:noFill/>
        </p:spPr>
        <p:txBody>
          <a:bodyPr wrap="square" lIns="45720" tIns="18288" rIns="45720" bIns="18288" anchor="t">
            <a:spAutoFit/>
          </a:bodyPr>
          <a:lstStyle/>
          <a:p>
            <a:pPr algn="l"/>
            <a:r>
              <a:rPr sz="1200" b="1">
                <a:solidFill>
                  <a:srgbClr val="1E3A8A"/>
                </a:solidFill>
                <a:latin typeface="Calibri"/>
              </a:rPr>
              <a:t>PRESENTATION II</a:t>
            </a:r>
          </a:p>
        </p:txBody>
      </p:sp>
      <p:sp>
        <p:nvSpPr>
          <p:cNvPr id="12" name="TextBox 11"/>
          <p:cNvSpPr txBox="1"/>
          <p:nvPr/>
        </p:nvSpPr>
        <p:spPr>
          <a:xfrm>
            <a:off x="4572000" y="2011680"/>
            <a:ext cx="3200400" cy="548640"/>
          </a:xfrm>
          <a:prstGeom prst="rect">
            <a:avLst/>
          </a:prstGeom>
          <a:noFill/>
        </p:spPr>
        <p:txBody>
          <a:bodyPr wrap="square" lIns="45720" tIns="18288" rIns="45720" bIns="18288" anchor="t">
            <a:spAutoFit/>
          </a:bodyPr>
          <a:lstStyle/>
          <a:p>
            <a:pPr algn="l"/>
            <a:r>
              <a:rPr sz="2200" b="0">
                <a:solidFill>
                  <a:srgbClr val="1E3A8A"/>
                </a:solidFill>
                <a:latin typeface="Impact"/>
              </a:rPr>
              <a:t>Database Design</a:t>
            </a:r>
          </a:p>
        </p:txBody>
      </p:sp>
      <p:sp>
        <p:nvSpPr>
          <p:cNvPr id="13" name="TextBox 12"/>
          <p:cNvSpPr txBox="1"/>
          <p:nvPr/>
        </p:nvSpPr>
        <p:spPr>
          <a:xfrm>
            <a:off x="4572000" y="2743200"/>
            <a:ext cx="3200400" cy="3108960"/>
          </a:xfrm>
          <a:prstGeom prst="rect">
            <a:avLst/>
          </a:prstGeom>
          <a:noFill/>
        </p:spPr>
        <p:txBody>
          <a:bodyPr wrap="square">
            <a:spAutoFit/>
          </a:bodyPr>
          <a:lstStyle/>
          <a:p>
            <a:pPr>
              <a:spcAft>
                <a:spcPts val="1000"/>
              </a:spcAft>
            </a:pPr>
            <a:r>
              <a:rPr sz="1800">
                <a:solidFill>
                  <a:srgbClr val="47423E"/>
                </a:solidFill>
                <a:latin typeface="Calibri"/>
              </a:rPr>
              <a:t>•  ER diagram - 10 entities</a:t>
            </a:r>
          </a:p>
          <a:p>
            <a:pPr>
              <a:spcAft>
                <a:spcPts val="1000"/>
              </a:spcAft>
            </a:pPr>
            <a:r>
              <a:rPr sz="1800">
                <a:solidFill>
                  <a:srgbClr val="47423E"/>
                </a:solidFill>
                <a:latin typeface="Calibri"/>
              </a:rPr>
              <a:t>•  10 tables with PK / FK</a:t>
            </a:r>
          </a:p>
          <a:p>
            <a:pPr>
              <a:spcAft>
                <a:spcPts val="1000"/>
              </a:spcAft>
            </a:pPr>
            <a:r>
              <a:rPr sz="1800">
                <a:solidFill>
                  <a:srgbClr val="47423E"/>
                </a:solidFill>
                <a:latin typeface="Calibri"/>
              </a:rPr>
              <a:t>•  NOT NULL, UNIQUE, CHECK, DEFAULT</a:t>
            </a:r>
          </a:p>
          <a:p>
            <a:pPr>
              <a:spcAft>
                <a:spcPts val="1000"/>
              </a:spcAft>
            </a:pPr>
            <a:r>
              <a:rPr sz="1800">
                <a:solidFill>
                  <a:srgbClr val="47423E"/>
                </a:solidFill>
                <a:latin typeface="Calibri"/>
              </a:rPr>
              <a:t>•  30 sample rows per table in MySQL</a:t>
            </a:r>
          </a:p>
        </p:txBody>
      </p:sp>
      <p:sp>
        <p:nvSpPr>
          <p:cNvPr id="14" name="Rectangle 13"/>
          <p:cNvSpPr/>
          <p:nvPr/>
        </p:nvSpPr>
        <p:spPr>
          <a:xfrm>
            <a:off x="8229600" y="1554480"/>
            <a:ext cx="3566160" cy="4206240"/>
          </a:xfrm>
          <a:prstGeom prst="rect">
            <a:avLst/>
          </a:prstGeom>
          <a:solidFill>
            <a:srgbClr val="FFFFFF"/>
          </a:solidFill>
          <a:ln w="19050">
            <a:solidFill>
              <a:srgbClr val="F5E8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1691640"/>
            <a:ext cx="3200400" cy="320040"/>
          </a:xfrm>
          <a:prstGeom prst="rect">
            <a:avLst/>
          </a:prstGeom>
          <a:noFill/>
        </p:spPr>
        <p:txBody>
          <a:bodyPr wrap="square" lIns="45720" tIns="18288" rIns="45720" bIns="18288" anchor="t">
            <a:spAutoFit/>
          </a:bodyPr>
          <a:lstStyle/>
          <a:p>
            <a:pPr algn="l"/>
            <a:r>
              <a:rPr sz="1200" b="1">
                <a:solidFill>
                  <a:srgbClr val="1E3A8A"/>
                </a:solidFill>
                <a:latin typeface="Calibri"/>
              </a:rPr>
              <a:t>PRESENTATION III</a:t>
            </a:r>
          </a:p>
        </p:txBody>
      </p:sp>
      <p:sp>
        <p:nvSpPr>
          <p:cNvPr id="16" name="TextBox 15"/>
          <p:cNvSpPr txBox="1"/>
          <p:nvPr/>
        </p:nvSpPr>
        <p:spPr>
          <a:xfrm>
            <a:off x="8412480" y="2011680"/>
            <a:ext cx="3200400" cy="548640"/>
          </a:xfrm>
          <a:prstGeom prst="rect">
            <a:avLst/>
          </a:prstGeom>
          <a:noFill/>
        </p:spPr>
        <p:txBody>
          <a:bodyPr wrap="square" lIns="45720" tIns="18288" rIns="45720" bIns="18288" anchor="t">
            <a:spAutoFit/>
          </a:bodyPr>
          <a:lstStyle/>
          <a:p>
            <a:pPr algn="l"/>
            <a:r>
              <a:rPr sz="2200" b="0">
                <a:solidFill>
                  <a:srgbClr val="1E3A8A"/>
                </a:solidFill>
                <a:latin typeface="Impact"/>
              </a:rPr>
              <a:t>Working UI  (today)</a:t>
            </a:r>
          </a:p>
        </p:txBody>
      </p:sp>
      <p:sp>
        <p:nvSpPr>
          <p:cNvPr id="17" name="TextBox 16"/>
          <p:cNvSpPr txBox="1"/>
          <p:nvPr/>
        </p:nvSpPr>
        <p:spPr>
          <a:xfrm>
            <a:off x="8412480" y="2743200"/>
            <a:ext cx="3200400" cy="3108960"/>
          </a:xfrm>
          <a:prstGeom prst="rect">
            <a:avLst/>
          </a:prstGeom>
          <a:noFill/>
        </p:spPr>
        <p:txBody>
          <a:bodyPr wrap="square">
            <a:spAutoFit/>
          </a:bodyPr>
          <a:lstStyle/>
          <a:p>
            <a:pPr>
              <a:spcAft>
                <a:spcPts val="1000"/>
              </a:spcAft>
            </a:pPr>
            <a:r>
              <a:rPr sz="1800">
                <a:solidFill>
                  <a:srgbClr val="47423E"/>
                </a:solidFill>
                <a:latin typeface="Calibri"/>
              </a:rPr>
              <a:t>•  Python Flask web interface</a:t>
            </a:r>
          </a:p>
          <a:p>
            <a:pPr>
              <a:spcAft>
                <a:spcPts val="1000"/>
              </a:spcAft>
            </a:pPr>
            <a:r>
              <a:rPr sz="1800">
                <a:solidFill>
                  <a:srgbClr val="47423E"/>
                </a:solidFill>
                <a:latin typeface="Calibri"/>
              </a:rPr>
              <a:t>•  Connected live to MySQL</a:t>
            </a:r>
          </a:p>
          <a:p>
            <a:pPr>
              <a:spcAft>
                <a:spcPts val="1000"/>
              </a:spcAft>
            </a:pPr>
            <a:r>
              <a:rPr sz="1800">
                <a:solidFill>
                  <a:srgbClr val="47423E"/>
                </a:solidFill>
                <a:latin typeface="Calibri"/>
              </a:rPr>
              <a:t>•  View · Insert · Delete + validation</a:t>
            </a:r>
          </a:p>
          <a:p>
            <a:pPr>
              <a:spcAft>
                <a:spcPts val="1000"/>
              </a:spcAft>
            </a:pPr>
            <a:r>
              <a:rPr sz="1800">
                <a:solidFill>
                  <a:srgbClr val="47423E"/>
                </a:solidFill>
                <a:latin typeface="Calibri"/>
              </a:rPr>
              <a:t>•  Dashboard and SQL reports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FINAL DATABASE DESIGN</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10 tables · 30 records each · referential integrity through foreign keys</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3</a:t>
            </a:r>
          </a:p>
        </p:txBody>
      </p:sp>
      <p:pic>
        <p:nvPicPr>
          <p:cNvPr id="6" name="Picture 5" descr="er-000.png"/>
          <p:cNvPicPr>
            <a:picLocks noChangeAspect="1"/>
          </p:cNvPicPr>
          <p:nvPr/>
        </p:nvPicPr>
        <p:blipFill>
          <a:blip r:embed="rId3"/>
          <a:stretch>
            <a:fillRect/>
          </a:stretch>
        </p:blipFill>
        <p:spPr>
          <a:xfrm>
            <a:off x="548640" y="1463040"/>
            <a:ext cx="7269479" cy="4846320"/>
          </a:xfrm>
          <a:prstGeom prst="rect">
            <a:avLst/>
          </a:prstGeom>
          <a:ln w="25400">
            <a:solidFill>
              <a:srgbClr val="F5E8C7"/>
            </a:solidFill>
          </a:ln>
        </p:spPr>
      </p:pic>
      <p:sp>
        <p:nvSpPr>
          <p:cNvPr id="7" name="Rectangle 6"/>
          <p:cNvSpPr/>
          <p:nvPr/>
        </p:nvSpPr>
        <p:spPr>
          <a:xfrm>
            <a:off x="8366760" y="1463040"/>
            <a:ext cx="3291840" cy="484632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0" y="1554480"/>
            <a:ext cx="3017520" cy="4663440"/>
          </a:xfrm>
          <a:prstGeom prst="rect">
            <a:avLst/>
          </a:prstGeom>
          <a:noFill/>
        </p:spPr>
        <p:txBody>
          <a:bodyPr wrap="square">
            <a:spAutoFit/>
          </a:bodyPr>
          <a:lstStyle/>
          <a:p>
            <a:pPr>
              <a:spcAft>
                <a:spcPts val="600"/>
              </a:spcAft>
            </a:pPr>
            <a:r>
              <a:rPr sz="1400" b="1">
                <a:solidFill>
                  <a:srgbClr val="1E3A8A"/>
                </a:solidFill>
                <a:latin typeface="Calibri"/>
              </a:rPr>
              <a:t>10 tables: </a:t>
            </a:r>
            <a:r>
              <a:rPr sz="1400">
                <a:solidFill>
                  <a:srgbClr val="47423E"/>
                </a:solidFill>
                <a:latin typeface="Calibri"/>
              </a:rPr>
              <a:t>USER, LABORATORY, EQUIPMENT_CATEGORY, EQUIPMENT, BOOKING, TECHNICIAN, MAINTENANCE_TYPE, MAINTENANCE, FEEDBACK, PAYMENT</a:t>
            </a:r>
          </a:p>
          <a:p>
            <a:pPr>
              <a:spcAft>
                <a:spcPts val="600"/>
              </a:spcAft>
            </a:pPr>
            <a:r>
              <a:rPr sz="1400" b="1">
                <a:solidFill>
                  <a:srgbClr val="1E3A8A"/>
                </a:solidFill>
                <a:latin typeface="Calibri"/>
              </a:rPr>
              <a:t>Keys: </a:t>
            </a:r>
            <a:r>
              <a:rPr sz="1400">
                <a:solidFill>
                  <a:srgbClr val="47423E"/>
                </a:solidFill>
                <a:latin typeface="Calibri"/>
              </a:rPr>
              <a:t>auto-increment primary keys; 13 foreign keys</a:t>
            </a:r>
          </a:p>
          <a:p>
            <a:pPr>
              <a:spcAft>
                <a:spcPts val="600"/>
              </a:spcAft>
            </a:pPr>
            <a:r>
              <a:rPr sz="1400" b="1">
                <a:solidFill>
                  <a:srgbClr val="1E3A8A"/>
                </a:solidFill>
                <a:latin typeface="Calibri"/>
              </a:rPr>
              <a:t>Rules: </a:t>
            </a:r>
            <a:r>
              <a:rPr sz="1400">
                <a:solidFill>
                  <a:srgbClr val="47423E"/>
                </a:solidFill>
                <a:latin typeface="Calibri"/>
              </a:rPr>
              <a:t>NOT NULL, UNIQUE, CHECK, DEFAULT</a:t>
            </a:r>
          </a:p>
          <a:p>
            <a:pPr>
              <a:spcAft>
                <a:spcPts val="600"/>
              </a:spcAft>
            </a:pPr>
            <a:r>
              <a:rPr sz="1400" b="1">
                <a:solidFill>
                  <a:srgbClr val="1E3A8A"/>
                </a:solidFill>
                <a:latin typeface="Calibri"/>
              </a:rPr>
              <a:t>Data: </a:t>
            </a:r>
            <a:r>
              <a:rPr sz="1400">
                <a:solidFill>
                  <a:srgbClr val="47423E"/>
                </a:solidFill>
                <a:latin typeface="Calibri"/>
              </a:rPr>
              <a:t>30 sample rows in every table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TECHNOLOGY STACK &amp; ARCHITECTURE</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How the UI talks to the database</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4</a:t>
            </a:r>
          </a:p>
        </p:txBody>
      </p:sp>
      <p:sp>
        <p:nvSpPr>
          <p:cNvPr id="6" name="Rectangle 5"/>
          <p:cNvSpPr/>
          <p:nvPr/>
        </p:nvSpPr>
        <p:spPr>
          <a:xfrm>
            <a:off x="548640" y="1828800"/>
            <a:ext cx="2468880" cy="20116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965960"/>
            <a:ext cx="2468880" cy="457200"/>
          </a:xfrm>
          <a:prstGeom prst="rect">
            <a:avLst/>
          </a:prstGeom>
          <a:noFill/>
        </p:spPr>
        <p:txBody>
          <a:bodyPr wrap="square" lIns="45720" tIns="18288" rIns="45720" bIns="18288" anchor="t">
            <a:spAutoFit/>
          </a:bodyPr>
          <a:lstStyle/>
          <a:p>
            <a:pPr algn="ctr"/>
            <a:r>
              <a:rPr sz="2000" b="0">
                <a:solidFill>
                  <a:srgbClr val="1E3A8A"/>
                </a:solidFill>
                <a:latin typeface="Impact"/>
              </a:rPr>
              <a:t>BROWSER</a:t>
            </a:r>
          </a:p>
        </p:txBody>
      </p:sp>
      <p:sp>
        <p:nvSpPr>
          <p:cNvPr id="8" name="TextBox 7"/>
          <p:cNvSpPr txBox="1"/>
          <p:nvPr/>
        </p:nvSpPr>
        <p:spPr>
          <a:xfrm>
            <a:off x="640080" y="2606040"/>
            <a:ext cx="2286000" cy="1188720"/>
          </a:xfrm>
          <a:prstGeom prst="rect">
            <a:avLst/>
          </a:prstGeom>
          <a:noFill/>
        </p:spPr>
        <p:txBody>
          <a:bodyPr wrap="square" lIns="45720" tIns="18288" rIns="45720" bIns="18288" anchor="t">
            <a:spAutoFit/>
          </a:bodyPr>
          <a:lstStyle/>
          <a:p>
            <a:pPr algn="ctr"/>
            <a:r>
              <a:rPr sz="1400" b="0">
                <a:solidFill>
                  <a:srgbClr val="47423E"/>
                </a:solidFill>
                <a:latin typeface="Calibri"/>
              </a:rPr>
              <a:t>HTML · CSS</a:t>
            </a:r>
          </a:p>
          <a:p>
            <a:pPr algn="ctr"/>
            <a:r>
              <a:rPr sz="1400" b="0">
                <a:solidFill>
                  <a:srgbClr val="47423E"/>
                </a:solidFill>
                <a:latin typeface="Calibri"/>
              </a:rPr>
              <a:t>Forms, tables,</a:t>
            </a:r>
          </a:p>
          <a:p>
            <a:pPr algn="ctr"/>
            <a:r>
              <a:rPr sz="1400" b="0">
                <a:solidFill>
                  <a:srgbClr val="47423E"/>
                </a:solidFill>
                <a:latin typeface="Calibri"/>
              </a:rPr>
              <a:t>confirmations</a:t>
            </a:r>
          </a:p>
        </p:txBody>
      </p:sp>
      <p:sp>
        <p:nvSpPr>
          <p:cNvPr id="9" name="TextBox 8"/>
          <p:cNvSpPr txBox="1"/>
          <p:nvPr/>
        </p:nvSpPr>
        <p:spPr>
          <a:xfrm>
            <a:off x="3017520" y="2468880"/>
            <a:ext cx="411480" cy="548640"/>
          </a:xfrm>
          <a:prstGeom prst="rect">
            <a:avLst/>
          </a:prstGeom>
          <a:noFill/>
        </p:spPr>
        <p:txBody>
          <a:bodyPr wrap="square" lIns="45720" tIns="18288" rIns="45720" bIns="18288" anchor="t">
            <a:spAutoFit/>
          </a:bodyPr>
          <a:lstStyle/>
          <a:p>
            <a:pPr algn="ctr"/>
            <a:r>
              <a:rPr sz="3000" b="1">
                <a:solidFill>
                  <a:srgbClr val="F5E8C7"/>
                </a:solidFill>
                <a:latin typeface="Calibri"/>
              </a:rPr>
              <a:t>→</a:t>
            </a:r>
          </a:p>
        </p:txBody>
      </p:sp>
      <p:sp>
        <p:nvSpPr>
          <p:cNvPr id="10" name="Rectangle 9"/>
          <p:cNvSpPr/>
          <p:nvPr/>
        </p:nvSpPr>
        <p:spPr>
          <a:xfrm>
            <a:off x="3429000" y="1828800"/>
            <a:ext cx="2468880" cy="20116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29000" y="1965960"/>
            <a:ext cx="2468880" cy="457200"/>
          </a:xfrm>
          <a:prstGeom prst="rect">
            <a:avLst/>
          </a:prstGeom>
          <a:noFill/>
        </p:spPr>
        <p:txBody>
          <a:bodyPr wrap="square" lIns="45720" tIns="18288" rIns="45720" bIns="18288" anchor="t">
            <a:spAutoFit/>
          </a:bodyPr>
          <a:lstStyle/>
          <a:p>
            <a:pPr algn="ctr"/>
            <a:r>
              <a:rPr sz="2000" b="0">
                <a:solidFill>
                  <a:srgbClr val="1E3A8A"/>
                </a:solidFill>
                <a:latin typeface="Impact"/>
              </a:rPr>
              <a:t>FLASK (PYTHON)</a:t>
            </a:r>
          </a:p>
        </p:txBody>
      </p:sp>
      <p:sp>
        <p:nvSpPr>
          <p:cNvPr id="12" name="TextBox 11"/>
          <p:cNvSpPr txBox="1"/>
          <p:nvPr/>
        </p:nvSpPr>
        <p:spPr>
          <a:xfrm>
            <a:off x="3520440" y="2606040"/>
            <a:ext cx="2286000" cy="1188720"/>
          </a:xfrm>
          <a:prstGeom prst="rect">
            <a:avLst/>
          </a:prstGeom>
          <a:noFill/>
        </p:spPr>
        <p:txBody>
          <a:bodyPr wrap="square" lIns="45720" tIns="18288" rIns="45720" bIns="18288" anchor="t">
            <a:spAutoFit/>
          </a:bodyPr>
          <a:lstStyle/>
          <a:p>
            <a:pPr algn="ctr"/>
            <a:r>
              <a:rPr sz="1400" b="0">
                <a:solidFill>
                  <a:srgbClr val="47423E"/>
                </a:solidFill>
                <a:latin typeface="Calibri"/>
              </a:rPr>
              <a:t>Routes · validation</a:t>
            </a:r>
          </a:p>
          <a:p>
            <a:pPr algn="ctr"/>
            <a:r>
              <a:rPr sz="1400" b="0">
                <a:solidFill>
                  <a:srgbClr val="47423E"/>
                </a:solidFill>
                <a:latin typeface="Calibri"/>
              </a:rPr>
              <a:t>Business rules</a:t>
            </a:r>
          </a:p>
          <a:p>
            <a:pPr algn="ctr"/>
            <a:r>
              <a:rPr sz="1400" b="0">
                <a:solidFill>
                  <a:srgbClr val="47423E"/>
                </a:solidFill>
                <a:latin typeface="Calibri"/>
              </a:rPr>
              <a:t>Jinja2 templates</a:t>
            </a:r>
          </a:p>
        </p:txBody>
      </p:sp>
      <p:sp>
        <p:nvSpPr>
          <p:cNvPr id="13" name="TextBox 12"/>
          <p:cNvSpPr txBox="1"/>
          <p:nvPr/>
        </p:nvSpPr>
        <p:spPr>
          <a:xfrm>
            <a:off x="5897880" y="2468880"/>
            <a:ext cx="411480" cy="548640"/>
          </a:xfrm>
          <a:prstGeom prst="rect">
            <a:avLst/>
          </a:prstGeom>
          <a:noFill/>
        </p:spPr>
        <p:txBody>
          <a:bodyPr wrap="square" lIns="45720" tIns="18288" rIns="45720" bIns="18288" anchor="t">
            <a:spAutoFit/>
          </a:bodyPr>
          <a:lstStyle/>
          <a:p>
            <a:pPr algn="ctr"/>
            <a:r>
              <a:rPr sz="3000" b="1">
                <a:solidFill>
                  <a:srgbClr val="F5E8C7"/>
                </a:solidFill>
                <a:latin typeface="Calibri"/>
              </a:rPr>
              <a:t>→</a:t>
            </a:r>
          </a:p>
        </p:txBody>
      </p:sp>
      <p:sp>
        <p:nvSpPr>
          <p:cNvPr id="14" name="Rectangle 13"/>
          <p:cNvSpPr/>
          <p:nvPr/>
        </p:nvSpPr>
        <p:spPr>
          <a:xfrm>
            <a:off x="6309359" y="1828800"/>
            <a:ext cx="2468880" cy="20116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59" y="1965960"/>
            <a:ext cx="2468880" cy="457200"/>
          </a:xfrm>
          <a:prstGeom prst="rect">
            <a:avLst/>
          </a:prstGeom>
          <a:noFill/>
        </p:spPr>
        <p:txBody>
          <a:bodyPr wrap="square" lIns="45720" tIns="18288" rIns="45720" bIns="18288" anchor="t">
            <a:spAutoFit/>
          </a:bodyPr>
          <a:lstStyle/>
          <a:p>
            <a:pPr algn="ctr"/>
            <a:r>
              <a:rPr sz="2000" b="0">
                <a:solidFill>
                  <a:srgbClr val="1E3A8A"/>
                </a:solidFill>
                <a:latin typeface="Impact"/>
              </a:rPr>
              <a:t>PyMySQL DRIVER</a:t>
            </a:r>
          </a:p>
        </p:txBody>
      </p:sp>
      <p:sp>
        <p:nvSpPr>
          <p:cNvPr id="16" name="TextBox 15"/>
          <p:cNvSpPr txBox="1"/>
          <p:nvPr/>
        </p:nvSpPr>
        <p:spPr>
          <a:xfrm>
            <a:off x="6400799" y="2606040"/>
            <a:ext cx="2286000" cy="1188720"/>
          </a:xfrm>
          <a:prstGeom prst="rect">
            <a:avLst/>
          </a:prstGeom>
          <a:noFill/>
        </p:spPr>
        <p:txBody>
          <a:bodyPr wrap="square" lIns="45720" tIns="18288" rIns="45720" bIns="18288" anchor="t">
            <a:spAutoFit/>
          </a:bodyPr>
          <a:lstStyle/>
          <a:p>
            <a:pPr algn="ctr"/>
            <a:r>
              <a:rPr sz="1400" b="0">
                <a:solidFill>
                  <a:srgbClr val="47423E"/>
                </a:solidFill>
                <a:latin typeface="Calibri"/>
              </a:rPr>
              <a:t>Parameterised SQL</a:t>
            </a:r>
          </a:p>
          <a:p>
            <a:pPr algn="ctr"/>
            <a:r>
              <a:rPr sz="1400" b="0">
                <a:solidFill>
                  <a:srgbClr val="47423E"/>
                </a:solidFill>
                <a:latin typeface="Calibri"/>
              </a:rPr>
              <a:t>Commit / rollback</a:t>
            </a:r>
          </a:p>
          <a:p>
            <a:pPr algn="ctr"/>
            <a:r>
              <a:rPr sz="1400" b="0">
                <a:solidFill>
                  <a:srgbClr val="47423E"/>
                </a:solidFill>
                <a:latin typeface="Calibri"/>
              </a:rPr>
              <a:t>Error handling</a:t>
            </a:r>
          </a:p>
        </p:txBody>
      </p:sp>
      <p:sp>
        <p:nvSpPr>
          <p:cNvPr id="17" name="TextBox 16"/>
          <p:cNvSpPr txBox="1"/>
          <p:nvPr/>
        </p:nvSpPr>
        <p:spPr>
          <a:xfrm>
            <a:off x="8778240" y="2468880"/>
            <a:ext cx="411480" cy="548640"/>
          </a:xfrm>
          <a:prstGeom prst="rect">
            <a:avLst/>
          </a:prstGeom>
          <a:noFill/>
        </p:spPr>
        <p:txBody>
          <a:bodyPr wrap="square" lIns="45720" tIns="18288" rIns="45720" bIns="18288" anchor="t">
            <a:spAutoFit/>
          </a:bodyPr>
          <a:lstStyle/>
          <a:p>
            <a:pPr algn="ctr"/>
            <a:r>
              <a:rPr sz="3000" b="1">
                <a:solidFill>
                  <a:srgbClr val="F5E8C7"/>
                </a:solidFill>
                <a:latin typeface="Calibri"/>
              </a:rPr>
              <a:t>→</a:t>
            </a:r>
          </a:p>
        </p:txBody>
      </p:sp>
      <p:sp>
        <p:nvSpPr>
          <p:cNvPr id="18" name="Rectangle 17"/>
          <p:cNvSpPr/>
          <p:nvPr/>
        </p:nvSpPr>
        <p:spPr>
          <a:xfrm>
            <a:off x="9189719" y="1828800"/>
            <a:ext cx="2468880" cy="20116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89719" y="1965960"/>
            <a:ext cx="2468880" cy="457200"/>
          </a:xfrm>
          <a:prstGeom prst="rect">
            <a:avLst/>
          </a:prstGeom>
          <a:noFill/>
        </p:spPr>
        <p:txBody>
          <a:bodyPr wrap="square" lIns="45720" tIns="18288" rIns="45720" bIns="18288" anchor="t">
            <a:spAutoFit/>
          </a:bodyPr>
          <a:lstStyle/>
          <a:p>
            <a:pPr algn="ctr"/>
            <a:r>
              <a:rPr sz="2000" b="0">
                <a:solidFill>
                  <a:srgbClr val="1E3A8A"/>
                </a:solidFill>
                <a:latin typeface="Impact"/>
              </a:rPr>
              <a:t>MySQL</a:t>
            </a:r>
          </a:p>
        </p:txBody>
      </p:sp>
      <p:sp>
        <p:nvSpPr>
          <p:cNvPr id="20" name="TextBox 19"/>
          <p:cNvSpPr txBox="1"/>
          <p:nvPr/>
        </p:nvSpPr>
        <p:spPr>
          <a:xfrm>
            <a:off x="9281159" y="2606040"/>
            <a:ext cx="2286000" cy="1188720"/>
          </a:xfrm>
          <a:prstGeom prst="rect">
            <a:avLst/>
          </a:prstGeom>
          <a:noFill/>
        </p:spPr>
        <p:txBody>
          <a:bodyPr wrap="square" lIns="45720" tIns="18288" rIns="45720" bIns="18288" anchor="t">
            <a:spAutoFit/>
          </a:bodyPr>
          <a:lstStyle/>
          <a:p>
            <a:pPr algn="ctr"/>
            <a:r>
              <a:rPr sz="1400" b="0">
                <a:solidFill>
                  <a:srgbClr val="47423E"/>
                </a:solidFill>
                <a:latin typeface="Calibri"/>
              </a:rPr>
              <a:t>laboratory_management</a:t>
            </a:r>
          </a:p>
          <a:p>
            <a:pPr algn="ctr"/>
            <a:r>
              <a:rPr sz="1400" b="0">
                <a:solidFill>
                  <a:srgbClr val="47423E"/>
                </a:solidFill>
                <a:latin typeface="Calibri"/>
              </a:rPr>
              <a:t>10 tables</a:t>
            </a:r>
          </a:p>
          <a:p>
            <a:pPr algn="ctr"/>
            <a:r>
              <a:rPr sz="1400" b="0">
                <a:solidFill>
                  <a:srgbClr val="47423E"/>
                </a:solidFill>
                <a:latin typeface="Calibri"/>
              </a:rPr>
              <a:t>PK · FK · CHECK</a:t>
            </a:r>
          </a:p>
        </p:txBody>
      </p:sp>
      <p:sp>
        <p:nvSpPr>
          <p:cNvPr id="21" name="Rectangle 20"/>
          <p:cNvSpPr/>
          <p:nvPr/>
        </p:nvSpPr>
        <p:spPr>
          <a:xfrm>
            <a:off x="548640" y="4206240"/>
            <a:ext cx="5486400" cy="20116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297679"/>
            <a:ext cx="5212080" cy="1828800"/>
          </a:xfrm>
          <a:prstGeom prst="rect">
            <a:avLst/>
          </a:prstGeom>
          <a:noFill/>
        </p:spPr>
        <p:txBody>
          <a:bodyPr wrap="square">
            <a:spAutoFit/>
          </a:bodyPr>
          <a:lstStyle/>
          <a:p>
            <a:pPr>
              <a:spcAft>
                <a:spcPts val="600"/>
              </a:spcAft>
            </a:pPr>
            <a:r>
              <a:rPr sz="1400" b="1">
                <a:solidFill>
                  <a:srgbClr val="1E3A8A"/>
                </a:solidFill>
                <a:latin typeface="Calibri"/>
              </a:rPr>
              <a:t>Why a web UI? </a:t>
            </a:r>
            <a:r>
              <a:rPr sz="1400">
                <a:solidFill>
                  <a:srgbClr val="47423E"/>
                </a:solidFill>
                <a:latin typeface="Calibri"/>
              </a:rPr>
              <a:t>runs on any laptop, no install for users, easy to demo</a:t>
            </a:r>
          </a:p>
          <a:p>
            <a:pPr>
              <a:spcAft>
                <a:spcPts val="600"/>
              </a:spcAft>
            </a:pPr>
            <a:r>
              <a:rPr sz="1400" b="1">
                <a:solidFill>
                  <a:srgbClr val="1E3A8A"/>
                </a:solidFill>
                <a:latin typeface="Calibri"/>
              </a:rPr>
              <a:t>Why Flask? </a:t>
            </a:r>
            <a:r>
              <a:rPr sz="1400">
                <a:solidFill>
                  <a:srgbClr val="47423E"/>
                </a:solidFill>
                <a:latin typeface="Calibri"/>
              </a:rPr>
              <a:t>small, readable Python; fits a DBMS project</a:t>
            </a:r>
          </a:p>
          <a:p>
            <a:pPr>
              <a:spcAft>
                <a:spcPts val="600"/>
              </a:spcAft>
            </a:pPr>
            <a:r>
              <a:rPr sz="1400" b="1">
                <a:solidFill>
                  <a:srgbClr val="1E3A8A"/>
                </a:solidFill>
                <a:latin typeface="Calibri"/>
              </a:rPr>
              <a:t>Security: </a:t>
            </a:r>
            <a:r>
              <a:rPr sz="1400">
                <a:solidFill>
                  <a:srgbClr val="47423E"/>
                </a:solidFill>
                <a:latin typeface="Calibri"/>
              </a:rPr>
              <a:t>parameterised queries - no SQL injection</a:t>
            </a:r>
          </a:p>
        </p:txBody>
      </p:sp>
      <p:sp>
        <p:nvSpPr>
          <p:cNvPr id="23" name="Rectangle 22"/>
          <p:cNvSpPr/>
          <p:nvPr/>
        </p:nvSpPr>
        <p:spPr>
          <a:xfrm>
            <a:off x="6263640" y="4206240"/>
            <a:ext cx="5394960" cy="20116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00800" y="4297679"/>
            <a:ext cx="5120640" cy="1828800"/>
          </a:xfrm>
          <a:prstGeom prst="rect">
            <a:avLst/>
          </a:prstGeom>
          <a:noFill/>
        </p:spPr>
        <p:txBody>
          <a:bodyPr wrap="square">
            <a:spAutoFit/>
          </a:bodyPr>
          <a:lstStyle/>
          <a:p>
            <a:pPr>
              <a:spcAft>
                <a:spcPts val="600"/>
              </a:spcAft>
            </a:pPr>
            <a:r>
              <a:rPr sz="1400" b="1">
                <a:solidFill>
                  <a:srgbClr val="1E3A8A"/>
                </a:solidFill>
                <a:latin typeface="Calibri"/>
              </a:rPr>
              <a:t>Run: </a:t>
            </a:r>
            <a:r>
              <a:rPr sz="1400">
                <a:solidFill>
                  <a:srgbClr val="47423E"/>
                </a:solidFill>
                <a:latin typeface="Calibri"/>
              </a:rPr>
              <a:t>pip install flask pymysql  →  python app.py</a:t>
            </a:r>
          </a:p>
          <a:p>
            <a:pPr>
              <a:spcAft>
                <a:spcPts val="600"/>
              </a:spcAft>
            </a:pPr>
            <a:r>
              <a:rPr sz="1400" b="1">
                <a:solidFill>
                  <a:srgbClr val="1E3A8A"/>
                </a:solidFill>
                <a:latin typeface="Calibri"/>
              </a:rPr>
              <a:t>Open: </a:t>
            </a:r>
            <a:r>
              <a:rPr sz="1400">
                <a:solidFill>
                  <a:srgbClr val="47423E"/>
                </a:solidFill>
                <a:latin typeface="Calibri"/>
              </a:rPr>
              <a:t>http://127.0.0.1:5000</a:t>
            </a:r>
          </a:p>
          <a:p>
            <a:pPr>
              <a:spcAft>
                <a:spcPts val="600"/>
              </a:spcAft>
            </a:pPr>
            <a:r>
              <a:rPr sz="1400" b="1">
                <a:solidFill>
                  <a:srgbClr val="1E3A8A"/>
                </a:solidFill>
                <a:latin typeface="Calibri"/>
              </a:rPr>
              <a:t>Config: </a:t>
            </a:r>
            <a:r>
              <a:rPr sz="1400">
                <a:solidFill>
                  <a:srgbClr val="47423E"/>
                </a:solidFill>
                <a:latin typeface="Calibri"/>
              </a:rPr>
              <a:t>host, user, password in config.py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USER INTERFACE OVERVIEW</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Sidebar navigation to all 10 tables · dashboard · live change log</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5</a:t>
            </a:r>
          </a:p>
        </p:txBody>
      </p:sp>
      <p:pic>
        <p:nvPicPr>
          <p:cNvPr id="6" name="Picture 5" descr="dash.png"/>
          <p:cNvPicPr>
            <a:picLocks noChangeAspect="1"/>
          </p:cNvPicPr>
          <p:nvPr/>
        </p:nvPicPr>
        <p:blipFill>
          <a:blip r:embed="rId3"/>
          <a:stretch>
            <a:fillRect/>
          </a:stretch>
        </p:blipFill>
        <p:spPr>
          <a:xfrm>
            <a:off x="548640" y="1417320"/>
            <a:ext cx="5335937" cy="4983480"/>
          </a:xfrm>
          <a:prstGeom prst="rect">
            <a:avLst/>
          </a:prstGeom>
          <a:ln w="25400">
            <a:solidFill>
              <a:srgbClr val="F5E8C7"/>
            </a:solidFill>
          </a:ln>
        </p:spPr>
      </p:pic>
      <p:sp>
        <p:nvSpPr>
          <p:cNvPr id="7" name="Rectangle 6"/>
          <p:cNvSpPr/>
          <p:nvPr/>
        </p:nvSpPr>
        <p:spPr>
          <a:xfrm>
            <a:off x="6492240" y="1417320"/>
            <a:ext cx="5166360" cy="493776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29400" y="1508760"/>
            <a:ext cx="4892040" cy="4754880"/>
          </a:xfrm>
          <a:prstGeom prst="rect">
            <a:avLst/>
          </a:prstGeom>
          <a:noFill/>
        </p:spPr>
        <p:txBody>
          <a:bodyPr wrap="square">
            <a:spAutoFit/>
          </a:bodyPr>
          <a:lstStyle/>
          <a:p>
            <a:pPr>
              <a:spcAft>
                <a:spcPts val="600"/>
              </a:spcAft>
            </a:pPr>
            <a:r>
              <a:rPr sz="1500" b="1">
                <a:solidFill>
                  <a:srgbClr val="1E3A8A"/>
                </a:solidFill>
                <a:latin typeface="Calibri"/>
              </a:rPr>
              <a:t>Dashboard: </a:t>
            </a:r>
            <a:r>
              <a:rPr sz="1500">
                <a:solidFill>
                  <a:srgbClr val="47423E"/>
                </a:solidFill>
                <a:latin typeface="Calibri"/>
              </a:rPr>
              <a:t>KPIs computed with COUNT / SUM queries</a:t>
            </a:r>
          </a:p>
          <a:p>
            <a:pPr>
              <a:spcAft>
                <a:spcPts val="600"/>
              </a:spcAft>
            </a:pPr>
            <a:r>
              <a:rPr sz="1500" b="1">
                <a:solidFill>
                  <a:srgbClr val="1E3A8A"/>
                </a:solidFill>
                <a:latin typeface="Calibri"/>
              </a:rPr>
              <a:t>Table cards: </a:t>
            </a:r>
            <a:r>
              <a:rPr sz="1500">
                <a:solidFill>
                  <a:srgbClr val="47423E"/>
                </a:solidFill>
                <a:latin typeface="Calibri"/>
              </a:rPr>
              <a:t>row count of each table - one click to open</a:t>
            </a:r>
          </a:p>
          <a:p>
            <a:pPr>
              <a:spcAft>
                <a:spcPts val="600"/>
              </a:spcAft>
            </a:pPr>
            <a:r>
              <a:rPr sz="1500" b="1">
                <a:solidFill>
                  <a:srgbClr val="1E3A8A"/>
                </a:solidFill>
                <a:latin typeface="Calibri"/>
              </a:rPr>
              <a:t>Change log: </a:t>
            </a:r>
            <a:r>
              <a:rPr sz="1500">
                <a:solidFill>
                  <a:srgbClr val="47423E"/>
                </a:solidFill>
                <a:latin typeface="Calibri"/>
              </a:rPr>
              <a:t>each INSERT / DELETE with its SQL and the row count before → after</a:t>
            </a:r>
          </a:p>
          <a:p>
            <a:pPr>
              <a:spcAft>
                <a:spcPts val="600"/>
              </a:spcAft>
            </a:pPr>
            <a:r>
              <a:rPr sz="1500" b="1">
                <a:solidFill>
                  <a:srgbClr val="1E3A8A"/>
                </a:solidFill>
                <a:latin typeface="Calibri"/>
              </a:rPr>
              <a:t>SQL Reports: </a:t>
            </a:r>
            <a:r>
              <a:rPr sz="1500">
                <a:solidFill>
                  <a:srgbClr val="47423E"/>
                </a:solidFill>
                <a:latin typeface="Calibri"/>
              </a:rPr>
              <a:t>JOIN, GROUP BY and aggregate queries</a:t>
            </a:r>
          </a:p>
          <a:p>
            <a:pPr>
              <a:spcAft>
                <a:spcPts val="600"/>
              </a:spcAft>
            </a:pPr>
            <a:r>
              <a:rPr sz="1500" b="1">
                <a:solidFill>
                  <a:srgbClr val="1E3A8A"/>
                </a:solidFill>
                <a:latin typeface="Calibri"/>
              </a:rPr>
              <a:t>Colour badges: </a:t>
            </a:r>
            <a:r>
              <a:rPr sz="1500">
                <a:solidFill>
                  <a:srgbClr val="47423E"/>
                </a:solidFill>
                <a:latin typeface="Calibri"/>
              </a:rPr>
              <a:t>status columns are colour coded (green / amber / 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OPERATION 1 · VIEW RECORDS</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SELECT with search, pagination and foreign keys shown as names</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6</a:t>
            </a:r>
          </a:p>
        </p:txBody>
      </p:sp>
      <p:pic>
        <p:nvPicPr>
          <p:cNvPr id="6" name="Picture 5" descr="view1.png"/>
          <p:cNvPicPr>
            <a:picLocks noChangeAspect="1"/>
          </p:cNvPicPr>
          <p:nvPr/>
        </p:nvPicPr>
        <p:blipFill>
          <a:blip r:embed="rId3"/>
          <a:stretch>
            <a:fillRect/>
          </a:stretch>
        </p:blipFill>
        <p:spPr>
          <a:xfrm>
            <a:off x="548640" y="1417320"/>
            <a:ext cx="6208585" cy="4983480"/>
          </a:xfrm>
          <a:prstGeom prst="rect">
            <a:avLst/>
          </a:prstGeom>
          <a:ln w="25400">
            <a:solidFill>
              <a:srgbClr val="F5E8C7"/>
            </a:solidFill>
          </a:ln>
        </p:spPr>
      </p:pic>
      <p:pic>
        <p:nvPicPr>
          <p:cNvPr id="7" name="Picture 6" descr="view2.png"/>
          <p:cNvPicPr>
            <a:picLocks noChangeAspect="1"/>
          </p:cNvPicPr>
          <p:nvPr/>
        </p:nvPicPr>
        <p:blipFill>
          <a:blip r:embed="rId4"/>
          <a:stretch>
            <a:fillRect/>
          </a:stretch>
        </p:blipFill>
        <p:spPr>
          <a:xfrm>
            <a:off x="7726679" y="1417320"/>
            <a:ext cx="3931920" cy="1841032"/>
          </a:xfrm>
          <a:prstGeom prst="rect">
            <a:avLst/>
          </a:prstGeom>
          <a:ln w="25400">
            <a:solidFill>
              <a:srgbClr val="F5E8C7"/>
            </a:solidFill>
          </a:ln>
        </p:spPr>
      </p:pic>
      <p:sp>
        <p:nvSpPr>
          <p:cNvPr id="8" name="Rectangle 7"/>
          <p:cNvSpPr/>
          <p:nvPr/>
        </p:nvSpPr>
        <p:spPr>
          <a:xfrm>
            <a:off x="7726679" y="3383280"/>
            <a:ext cx="3931920" cy="301752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863840" y="3474720"/>
            <a:ext cx="3657600" cy="2834639"/>
          </a:xfrm>
          <a:prstGeom prst="rect">
            <a:avLst/>
          </a:prstGeom>
          <a:noFill/>
        </p:spPr>
        <p:txBody>
          <a:bodyPr wrap="square">
            <a:spAutoFit/>
          </a:bodyPr>
          <a:lstStyle/>
          <a:p>
            <a:pPr>
              <a:spcAft>
                <a:spcPts val="600"/>
              </a:spcAft>
            </a:pPr>
            <a:r>
              <a:rPr sz="1400" b="1">
                <a:solidFill>
                  <a:srgbClr val="1E3A8A"/>
                </a:solidFill>
                <a:latin typeface="Calibri"/>
              </a:rPr>
              <a:t>SELECT </a:t>
            </a:r>
            <a:r>
              <a:rPr sz="1400">
                <a:solidFill>
                  <a:srgbClr val="47423E"/>
                </a:solidFill>
                <a:latin typeface="Calibri"/>
              </a:rPr>
              <a:t>reads rows from the table</a:t>
            </a:r>
          </a:p>
          <a:p>
            <a:pPr>
              <a:spcAft>
                <a:spcPts val="600"/>
              </a:spcAft>
            </a:pPr>
            <a:r>
              <a:rPr sz="1400" b="1">
                <a:solidFill>
                  <a:srgbClr val="1E3A8A"/>
                </a:solidFill>
                <a:latin typeface="Calibri"/>
              </a:rPr>
              <a:t>JOIN-like lookup: </a:t>
            </a:r>
            <a:r>
              <a:rPr sz="1400">
                <a:solidFill>
                  <a:srgbClr val="47423E"/>
                </a:solidFill>
                <a:latin typeface="Calibri"/>
              </a:rPr>
              <a:t>IDs displayed as names</a:t>
            </a:r>
          </a:p>
          <a:p>
            <a:pPr>
              <a:spcAft>
                <a:spcPts val="600"/>
              </a:spcAft>
            </a:pPr>
            <a:r>
              <a:rPr sz="1400" b="1">
                <a:solidFill>
                  <a:srgbClr val="1E3A8A"/>
                </a:solidFill>
                <a:latin typeface="Calibri"/>
              </a:rPr>
              <a:t>Search: </a:t>
            </a:r>
            <a:r>
              <a:rPr sz="1400">
                <a:solidFill>
                  <a:srgbClr val="47423E"/>
                </a:solidFill>
                <a:latin typeface="Calibri"/>
              </a:rPr>
              <a:t>LIKE on text columns</a:t>
            </a:r>
          </a:p>
          <a:p>
            <a:pPr>
              <a:spcAft>
                <a:spcPts val="600"/>
              </a:spcAft>
            </a:pPr>
            <a:r>
              <a:rPr sz="1400" b="1">
                <a:solidFill>
                  <a:srgbClr val="1E3A8A"/>
                </a:solidFill>
                <a:latin typeface="Calibri"/>
              </a:rPr>
              <a:t>Pagination: </a:t>
            </a:r>
            <a:r>
              <a:rPr sz="1400">
                <a:solidFill>
                  <a:srgbClr val="47423E"/>
                </a:solidFill>
                <a:latin typeface="Calibri"/>
              </a:rPr>
              <a:t>LIMIT / OFFSET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OPERATION 2 · INSERT RECORD</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Form with validation → INSERT INTO → row count 30 → 31</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7</a:t>
            </a:r>
          </a:p>
        </p:txBody>
      </p:sp>
      <p:sp>
        <p:nvSpPr>
          <p:cNvPr id="6" name="Rectangle 5"/>
          <p:cNvSpPr/>
          <p:nvPr/>
        </p:nvSpPr>
        <p:spPr>
          <a:xfrm>
            <a:off x="548640" y="1371600"/>
            <a:ext cx="4754880" cy="310896"/>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71600"/>
            <a:ext cx="4754880" cy="310896"/>
          </a:xfrm>
          <a:prstGeom prst="rect">
            <a:avLst/>
          </a:prstGeom>
          <a:noFill/>
        </p:spPr>
        <p:txBody>
          <a:bodyPr wrap="square" lIns="45720" tIns="18288" rIns="45720" bIns="18288" anchor="ctr">
            <a:spAutoFit/>
          </a:bodyPr>
          <a:lstStyle/>
          <a:p>
            <a:pPr algn="ctr"/>
            <a:r>
              <a:rPr sz="1200" b="1">
                <a:solidFill>
                  <a:srgbClr val="1E3A8A"/>
                </a:solidFill>
                <a:latin typeface="Calibri"/>
              </a:rPr>
              <a:t>STEP 1 · FILL THE FORM</a:t>
            </a:r>
          </a:p>
        </p:txBody>
      </p:sp>
      <p:pic>
        <p:nvPicPr>
          <p:cNvPr id="8" name="Picture 7" descr="ins1.png"/>
          <p:cNvPicPr>
            <a:picLocks noChangeAspect="1"/>
          </p:cNvPicPr>
          <p:nvPr/>
        </p:nvPicPr>
        <p:blipFill>
          <a:blip r:embed="rId3"/>
          <a:stretch>
            <a:fillRect/>
          </a:stretch>
        </p:blipFill>
        <p:spPr>
          <a:xfrm>
            <a:off x="548640" y="1737360"/>
            <a:ext cx="4552950" cy="2286000"/>
          </a:xfrm>
          <a:prstGeom prst="rect">
            <a:avLst/>
          </a:prstGeom>
          <a:ln w="25400">
            <a:solidFill>
              <a:srgbClr val="F5E8C7"/>
            </a:solidFill>
          </a:ln>
        </p:spPr>
      </p:pic>
      <p:sp>
        <p:nvSpPr>
          <p:cNvPr id="9" name="Rectangle 8"/>
          <p:cNvSpPr/>
          <p:nvPr/>
        </p:nvSpPr>
        <p:spPr>
          <a:xfrm>
            <a:off x="5577840" y="1371600"/>
            <a:ext cx="6080760" cy="310896"/>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77840" y="1371600"/>
            <a:ext cx="6080760" cy="310896"/>
          </a:xfrm>
          <a:prstGeom prst="rect">
            <a:avLst/>
          </a:prstGeom>
          <a:noFill/>
        </p:spPr>
        <p:txBody>
          <a:bodyPr wrap="square" lIns="45720" tIns="18288" rIns="45720" bIns="18288" anchor="ctr">
            <a:spAutoFit/>
          </a:bodyPr>
          <a:lstStyle/>
          <a:p>
            <a:pPr algn="ctr"/>
            <a:r>
              <a:rPr sz="1200" b="1">
                <a:solidFill>
                  <a:srgbClr val="FFFFFF"/>
                </a:solidFill>
                <a:latin typeface="Calibri"/>
              </a:rPr>
              <a:t>STEP 2 · RESULT: ROW ADDED (BEFORE 30 → AFTER 31)</a:t>
            </a:r>
          </a:p>
        </p:txBody>
      </p:sp>
      <p:pic>
        <p:nvPicPr>
          <p:cNvPr id="11" name="Picture 10" descr="ins2.png"/>
          <p:cNvPicPr>
            <a:picLocks noChangeAspect="1"/>
          </p:cNvPicPr>
          <p:nvPr/>
        </p:nvPicPr>
        <p:blipFill>
          <a:blip r:embed="rId4"/>
          <a:stretch>
            <a:fillRect/>
          </a:stretch>
        </p:blipFill>
        <p:spPr>
          <a:xfrm>
            <a:off x="5577840" y="1737360"/>
            <a:ext cx="6080760" cy="2237068"/>
          </a:xfrm>
          <a:prstGeom prst="rect">
            <a:avLst/>
          </a:prstGeom>
          <a:ln w="25400">
            <a:solidFill>
              <a:srgbClr val="F5E8C7"/>
            </a:solidFill>
          </a:ln>
        </p:spPr>
      </p:pic>
      <p:sp>
        <p:nvSpPr>
          <p:cNvPr id="12" name="Rectangle 11"/>
          <p:cNvSpPr/>
          <p:nvPr/>
        </p:nvSpPr>
        <p:spPr>
          <a:xfrm>
            <a:off x="548640" y="4160520"/>
            <a:ext cx="4754880" cy="210312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251959"/>
            <a:ext cx="4480560" cy="1920239"/>
          </a:xfrm>
          <a:prstGeom prst="rect">
            <a:avLst/>
          </a:prstGeom>
          <a:noFill/>
        </p:spPr>
        <p:txBody>
          <a:bodyPr wrap="square">
            <a:spAutoFit/>
          </a:bodyPr>
          <a:lstStyle/>
          <a:p>
            <a:pPr>
              <a:spcAft>
                <a:spcPts val="600"/>
              </a:spcAft>
            </a:pPr>
            <a:r>
              <a:rPr sz="1700" b="1">
                <a:solidFill>
                  <a:srgbClr val="1E3A8A"/>
                </a:solidFill>
                <a:latin typeface="Calibri"/>
              </a:rPr>
              <a:t>Drop-downs </a:t>
            </a:r>
            <a:r>
              <a:rPr sz="1700">
                <a:solidFill>
                  <a:srgbClr val="47423E"/>
                </a:solidFill>
                <a:latin typeface="Calibri"/>
              </a:rPr>
              <a:t>guarantee valid foreign keys</a:t>
            </a:r>
          </a:p>
          <a:p>
            <a:pPr>
              <a:spcAft>
                <a:spcPts val="600"/>
              </a:spcAft>
            </a:pPr>
            <a:r>
              <a:rPr sz="1700" b="1">
                <a:solidFill>
                  <a:srgbClr val="1E3A8A"/>
                </a:solidFill>
                <a:latin typeface="Calibri"/>
              </a:rPr>
              <a:t>Date / time pickers </a:t>
            </a:r>
            <a:r>
              <a:rPr sz="1700">
                <a:solidFill>
                  <a:srgbClr val="47423E"/>
                </a:solidFill>
                <a:latin typeface="Calibri"/>
              </a:rPr>
              <a:t>prevent format errors</a:t>
            </a:r>
          </a:p>
          <a:p>
            <a:pPr>
              <a:spcAft>
                <a:spcPts val="600"/>
              </a:spcAft>
            </a:pPr>
            <a:r>
              <a:rPr sz="1700" b="1">
                <a:solidFill>
                  <a:srgbClr val="1E3A8A"/>
                </a:solidFill>
                <a:latin typeface="Calibri"/>
              </a:rPr>
              <a:t>Required fields </a:t>
            </a:r>
            <a:r>
              <a:rPr sz="1700">
                <a:solidFill>
                  <a:srgbClr val="47423E"/>
                </a:solidFill>
                <a:latin typeface="Calibri"/>
              </a:rPr>
              <a:t>match NOT NULL columns</a:t>
            </a:r>
          </a:p>
        </p:txBody>
      </p:sp>
      <p:sp>
        <p:nvSpPr>
          <p:cNvPr id="14" name="Rectangle 13"/>
          <p:cNvSpPr/>
          <p:nvPr/>
        </p:nvSpPr>
        <p:spPr>
          <a:xfrm>
            <a:off x="5577840" y="4160520"/>
            <a:ext cx="6080760" cy="210312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715000" y="4251959"/>
            <a:ext cx="5806440" cy="1920239"/>
          </a:xfrm>
          <a:prstGeom prst="rect">
            <a:avLst/>
          </a:prstGeom>
          <a:noFill/>
        </p:spPr>
        <p:txBody>
          <a:bodyPr wrap="square">
            <a:spAutoFit/>
          </a:bodyPr>
          <a:lstStyle/>
          <a:p>
            <a:pPr>
              <a:spcAft>
                <a:spcPts val="600"/>
              </a:spcAft>
            </a:pPr>
            <a:r>
              <a:rPr sz="1700" b="1">
                <a:solidFill>
                  <a:srgbClr val="1E3A8A"/>
                </a:solidFill>
                <a:latin typeface="Calibri"/>
              </a:rPr>
              <a:t>SQL shown: </a:t>
            </a:r>
            <a:r>
              <a:rPr sz="1700">
                <a:solidFill>
                  <a:srgbClr val="47423E"/>
                </a:solidFill>
                <a:latin typeface="Calibri"/>
              </a:rPr>
              <a:t>INSERT INTO `BOOKING` (...) VALUES (5, 6, '2026-10-12', '10:00:00', '12:00:00', ...)</a:t>
            </a:r>
          </a:p>
          <a:p>
            <a:pPr>
              <a:spcAft>
                <a:spcPts val="600"/>
              </a:spcAft>
            </a:pPr>
            <a:r>
              <a:rPr sz="1700" b="1">
                <a:solidFill>
                  <a:srgbClr val="1E3A8A"/>
                </a:solidFill>
                <a:latin typeface="Calibri"/>
              </a:rPr>
              <a:t>Proof: </a:t>
            </a:r>
            <a:r>
              <a:rPr sz="1700">
                <a:solidFill>
                  <a:srgbClr val="47423E"/>
                </a:solidFill>
                <a:latin typeface="Calibri"/>
              </a:rPr>
              <a:t>banner shows BOOKING: 30 → 31 rows; new row highlighted in green</a:t>
            </a:r>
          </a:p>
          <a:p>
            <a:pPr>
              <a:spcAft>
                <a:spcPts val="600"/>
              </a:spcAft>
            </a:pPr>
            <a:r>
              <a:rPr sz="1700" b="1">
                <a:solidFill>
                  <a:srgbClr val="1E3A8A"/>
                </a:solidFill>
                <a:latin typeface="Calibri"/>
              </a:rPr>
              <a:t>Same on every table: </a:t>
            </a:r>
            <a:r>
              <a:rPr sz="1700">
                <a:solidFill>
                  <a:srgbClr val="47423E"/>
                </a:solidFill>
                <a:latin typeface="Calibri"/>
              </a:rPr>
              <a:t>all 10 tables have an Add form</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OPERATION 3 · DELETE RECORD</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Confirmation page → DELETE FROM → row count 31 → 30</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8</a:t>
            </a:r>
          </a:p>
        </p:txBody>
      </p:sp>
      <p:sp>
        <p:nvSpPr>
          <p:cNvPr id="6" name="Rectangle 5"/>
          <p:cNvSpPr/>
          <p:nvPr/>
        </p:nvSpPr>
        <p:spPr>
          <a:xfrm>
            <a:off x="548640" y="1371600"/>
            <a:ext cx="3657600" cy="310896"/>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71600"/>
            <a:ext cx="3657600" cy="310896"/>
          </a:xfrm>
          <a:prstGeom prst="rect">
            <a:avLst/>
          </a:prstGeom>
          <a:noFill/>
        </p:spPr>
        <p:txBody>
          <a:bodyPr wrap="square" lIns="45720" tIns="18288" rIns="45720" bIns="18288" anchor="ctr">
            <a:spAutoFit/>
          </a:bodyPr>
          <a:lstStyle/>
          <a:p>
            <a:pPr algn="ctr"/>
            <a:r>
              <a:rPr sz="1200" b="1">
                <a:solidFill>
                  <a:srgbClr val="1E3A8A"/>
                </a:solidFill>
                <a:latin typeface="Calibri"/>
              </a:rPr>
              <a:t>STEP 1 · CONFIRM</a:t>
            </a:r>
          </a:p>
        </p:txBody>
      </p:sp>
      <p:pic>
        <p:nvPicPr>
          <p:cNvPr id="8" name="Picture 7" descr="del1.png"/>
          <p:cNvPicPr>
            <a:picLocks noChangeAspect="1"/>
          </p:cNvPicPr>
          <p:nvPr/>
        </p:nvPicPr>
        <p:blipFill>
          <a:blip r:embed="rId3"/>
          <a:stretch>
            <a:fillRect/>
          </a:stretch>
        </p:blipFill>
        <p:spPr>
          <a:xfrm>
            <a:off x="548640" y="1737360"/>
            <a:ext cx="3657600" cy="1794616"/>
          </a:xfrm>
          <a:prstGeom prst="rect">
            <a:avLst/>
          </a:prstGeom>
          <a:ln w="25400">
            <a:solidFill>
              <a:srgbClr val="F5E8C7"/>
            </a:solidFill>
          </a:ln>
        </p:spPr>
      </p:pic>
      <p:sp>
        <p:nvSpPr>
          <p:cNvPr id="9" name="Rectangle 8"/>
          <p:cNvSpPr/>
          <p:nvPr/>
        </p:nvSpPr>
        <p:spPr>
          <a:xfrm>
            <a:off x="4389120" y="1371600"/>
            <a:ext cx="3657600" cy="310896"/>
          </a:xfrm>
          <a:prstGeom prst="rect">
            <a:avLst/>
          </a:prstGeom>
          <a:solidFill>
            <a:srgbClr val="1F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0" y="1371600"/>
            <a:ext cx="3657600" cy="310896"/>
          </a:xfrm>
          <a:prstGeom prst="rect">
            <a:avLst/>
          </a:prstGeom>
          <a:noFill/>
        </p:spPr>
        <p:txBody>
          <a:bodyPr wrap="square" lIns="45720" tIns="18288" rIns="45720" bIns="18288" anchor="ctr">
            <a:spAutoFit/>
          </a:bodyPr>
          <a:lstStyle/>
          <a:p>
            <a:pPr algn="ctr"/>
            <a:r>
              <a:rPr sz="1200" b="1">
                <a:solidFill>
                  <a:srgbClr val="FFFFFF"/>
                </a:solidFill>
                <a:latin typeface="Calibri"/>
              </a:rPr>
              <a:t>STEP 2 · ROW REMOVED (31 → 30)</a:t>
            </a:r>
          </a:p>
        </p:txBody>
      </p:sp>
      <p:pic>
        <p:nvPicPr>
          <p:cNvPr id="11" name="Picture 10" descr="del2.png"/>
          <p:cNvPicPr>
            <a:picLocks noChangeAspect="1"/>
          </p:cNvPicPr>
          <p:nvPr/>
        </p:nvPicPr>
        <p:blipFill>
          <a:blip r:embed="rId4"/>
          <a:stretch>
            <a:fillRect/>
          </a:stretch>
        </p:blipFill>
        <p:spPr>
          <a:xfrm>
            <a:off x="4389120" y="1737360"/>
            <a:ext cx="3657600" cy="1223277"/>
          </a:xfrm>
          <a:prstGeom prst="rect">
            <a:avLst/>
          </a:prstGeom>
          <a:ln w="25400">
            <a:solidFill>
              <a:srgbClr val="F5E8C7"/>
            </a:solidFill>
          </a:ln>
        </p:spPr>
      </p:pic>
      <p:sp>
        <p:nvSpPr>
          <p:cNvPr id="12" name="Rectangle 11"/>
          <p:cNvSpPr/>
          <p:nvPr/>
        </p:nvSpPr>
        <p:spPr>
          <a:xfrm>
            <a:off x="8229600" y="1371600"/>
            <a:ext cx="3429000" cy="310896"/>
          </a:xfrm>
          <a:prstGeom prst="rect">
            <a:avLst/>
          </a:prstGeom>
          <a:solidFill>
            <a:srgbClr val="B4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0" y="1371600"/>
            <a:ext cx="3429000" cy="310896"/>
          </a:xfrm>
          <a:prstGeom prst="rect">
            <a:avLst/>
          </a:prstGeom>
          <a:noFill/>
        </p:spPr>
        <p:txBody>
          <a:bodyPr wrap="square" lIns="45720" tIns="18288" rIns="45720" bIns="18288" anchor="ctr">
            <a:spAutoFit/>
          </a:bodyPr>
          <a:lstStyle/>
          <a:p>
            <a:pPr algn="ctr"/>
            <a:r>
              <a:rPr sz="1200" b="1">
                <a:solidFill>
                  <a:srgbClr val="FFFFFF"/>
                </a:solidFill>
                <a:latin typeface="Calibri"/>
              </a:rPr>
              <a:t>PROTECTED BY FOREIGN KEY</a:t>
            </a:r>
          </a:p>
        </p:txBody>
      </p:sp>
      <p:pic>
        <p:nvPicPr>
          <p:cNvPr id="14" name="Picture 13" descr="del3.png"/>
          <p:cNvPicPr>
            <a:picLocks noChangeAspect="1"/>
          </p:cNvPicPr>
          <p:nvPr/>
        </p:nvPicPr>
        <p:blipFill>
          <a:blip r:embed="rId5"/>
          <a:stretch>
            <a:fillRect/>
          </a:stretch>
        </p:blipFill>
        <p:spPr>
          <a:xfrm>
            <a:off x="8229600" y="1737360"/>
            <a:ext cx="3429000" cy="1146822"/>
          </a:xfrm>
          <a:prstGeom prst="rect">
            <a:avLst/>
          </a:prstGeom>
          <a:ln w="25400">
            <a:solidFill>
              <a:srgbClr val="F5E8C7"/>
            </a:solidFill>
          </a:ln>
        </p:spPr>
      </p:pic>
      <p:sp>
        <p:nvSpPr>
          <p:cNvPr id="15" name="Rectangle 14"/>
          <p:cNvSpPr/>
          <p:nvPr/>
        </p:nvSpPr>
        <p:spPr>
          <a:xfrm>
            <a:off x="548640" y="3931920"/>
            <a:ext cx="11109960" cy="233172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 y="4023359"/>
            <a:ext cx="10835640" cy="2148839"/>
          </a:xfrm>
          <a:prstGeom prst="rect">
            <a:avLst/>
          </a:prstGeom>
          <a:noFill/>
        </p:spPr>
        <p:txBody>
          <a:bodyPr wrap="square">
            <a:spAutoFit/>
          </a:bodyPr>
          <a:lstStyle/>
          <a:p>
            <a:pPr>
              <a:spcAft>
                <a:spcPts val="600"/>
              </a:spcAft>
            </a:pPr>
            <a:r>
              <a:rPr sz="1800" b="1">
                <a:solidFill>
                  <a:srgbClr val="1E3A8A"/>
                </a:solidFill>
                <a:latin typeface="Calibri"/>
              </a:rPr>
              <a:t>Safe delete: </a:t>
            </a:r>
            <a:r>
              <a:rPr sz="1800">
                <a:solidFill>
                  <a:srgbClr val="47423E"/>
                </a:solidFill>
                <a:latin typeface="Calibri"/>
              </a:rPr>
              <a:t>a confirmation page shows the full record before anything is removed.</a:t>
            </a:r>
          </a:p>
          <a:p>
            <a:pPr>
              <a:spcAft>
                <a:spcPts val="600"/>
              </a:spcAft>
            </a:pPr>
            <a:r>
              <a:rPr sz="1800" b="1">
                <a:solidFill>
                  <a:srgbClr val="1E3A8A"/>
                </a:solidFill>
                <a:latin typeface="Calibri"/>
              </a:rPr>
              <a:t>SQL: </a:t>
            </a:r>
            <a:r>
              <a:rPr sz="1800">
                <a:solidFill>
                  <a:srgbClr val="47423E"/>
                </a:solidFill>
                <a:latin typeface="Calibri"/>
              </a:rPr>
              <a:t>DELETE FROM `BOOKING` WHERE `booking_id`=31   -   logged in the change log with rows 31 → 30.</a:t>
            </a:r>
          </a:p>
          <a:p>
            <a:pPr>
              <a:spcAft>
                <a:spcPts val="600"/>
              </a:spcAft>
            </a:pPr>
            <a:r>
              <a:rPr sz="1800" b="1">
                <a:solidFill>
                  <a:srgbClr val="1E3A8A"/>
                </a:solidFill>
                <a:latin typeface="Calibri"/>
              </a:rPr>
              <a:t>Integrity: </a:t>
            </a:r>
            <a:r>
              <a:rPr sz="1800">
                <a:solidFill>
                  <a:srgbClr val="47423E"/>
                </a:solidFill>
                <a:latin typeface="Calibri"/>
              </a:rPr>
              <a:t>a booking that still has a PAYMENT or FEEDBACK cannot be deleted - the foreign key (ON DELETE RESTRICT) stops it and the UI shows which tables depend on it.</a:t>
            </a:r>
          </a:p>
          <a:p>
            <a:pPr>
              <a:spcAft>
                <a:spcPts val="600"/>
              </a:spcAft>
            </a:pPr>
            <a:r>
              <a:rPr sz="1800" b="1">
                <a:solidFill>
                  <a:srgbClr val="1E3A8A"/>
                </a:solidFill>
                <a:latin typeface="Calibri"/>
              </a:rPr>
              <a:t>Order to remove: </a:t>
            </a:r>
            <a:r>
              <a:rPr sz="1800">
                <a:solidFill>
                  <a:srgbClr val="47423E"/>
                </a:solidFill>
                <a:latin typeface="Calibri"/>
              </a:rPr>
              <a:t>child rows (payment, feedback) first, then the booking.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BUSINESS RULES &amp; VALIDATION</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The rules from Presentation I are enforced when data is inserted</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9</a:t>
            </a:r>
          </a:p>
        </p:txBody>
      </p:sp>
      <p:sp>
        <p:nvSpPr>
          <p:cNvPr id="6" name="Rectangle 5"/>
          <p:cNvSpPr/>
          <p:nvPr/>
        </p:nvSpPr>
        <p:spPr>
          <a:xfrm>
            <a:off x="548640" y="1371600"/>
            <a:ext cx="5486400" cy="310896"/>
          </a:xfrm>
          <a:prstGeom prst="rect">
            <a:avLst/>
          </a:prstGeom>
          <a:solidFill>
            <a:srgbClr val="B4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1371600"/>
            <a:ext cx="5486400" cy="310896"/>
          </a:xfrm>
          <a:prstGeom prst="rect">
            <a:avLst/>
          </a:prstGeom>
          <a:noFill/>
        </p:spPr>
        <p:txBody>
          <a:bodyPr wrap="square" lIns="45720" tIns="18288" rIns="45720" bIns="18288" anchor="ctr">
            <a:spAutoFit/>
          </a:bodyPr>
          <a:lstStyle/>
          <a:p>
            <a:pPr algn="ctr"/>
            <a:r>
              <a:rPr sz="1200" b="1">
                <a:solidFill>
                  <a:srgbClr val="FFFFFF"/>
                </a:solidFill>
                <a:latin typeface="Calibri"/>
              </a:rPr>
              <a:t>RULE 1 · NO OVERLAPPING APPROVED BOOKINGS</a:t>
            </a:r>
          </a:p>
        </p:txBody>
      </p:sp>
      <p:pic>
        <p:nvPicPr>
          <p:cNvPr id="8" name="Picture 7" descr="r1.png"/>
          <p:cNvPicPr>
            <a:picLocks noChangeAspect="1"/>
          </p:cNvPicPr>
          <p:nvPr/>
        </p:nvPicPr>
        <p:blipFill>
          <a:blip r:embed="rId3"/>
          <a:stretch>
            <a:fillRect/>
          </a:stretch>
        </p:blipFill>
        <p:spPr>
          <a:xfrm>
            <a:off x="548640" y="1737360"/>
            <a:ext cx="5486400" cy="2295564"/>
          </a:xfrm>
          <a:prstGeom prst="rect">
            <a:avLst/>
          </a:prstGeom>
          <a:ln w="25400">
            <a:solidFill>
              <a:srgbClr val="F5E8C7"/>
            </a:solidFill>
          </a:ln>
        </p:spPr>
      </p:pic>
      <p:sp>
        <p:nvSpPr>
          <p:cNvPr id="9" name="Rectangle 8"/>
          <p:cNvSpPr/>
          <p:nvPr/>
        </p:nvSpPr>
        <p:spPr>
          <a:xfrm>
            <a:off x="6217920" y="1371600"/>
            <a:ext cx="5440680" cy="310896"/>
          </a:xfrm>
          <a:prstGeom prst="rect">
            <a:avLst/>
          </a:prstGeom>
          <a:solidFill>
            <a:srgbClr val="B423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17920" y="1371600"/>
            <a:ext cx="5440680" cy="310896"/>
          </a:xfrm>
          <a:prstGeom prst="rect">
            <a:avLst/>
          </a:prstGeom>
          <a:noFill/>
        </p:spPr>
        <p:txBody>
          <a:bodyPr wrap="square" lIns="45720" tIns="18288" rIns="45720" bIns="18288" anchor="ctr">
            <a:spAutoFit/>
          </a:bodyPr>
          <a:lstStyle/>
          <a:p>
            <a:pPr algn="ctr"/>
            <a:r>
              <a:rPr sz="1200" b="1">
                <a:solidFill>
                  <a:srgbClr val="FFFFFF"/>
                </a:solidFill>
                <a:latin typeface="Calibri"/>
              </a:rPr>
              <a:t>RULE 2 · EQUIPMENT UNDER MAINTENANCE CANNOT BE BOOKED</a:t>
            </a:r>
          </a:p>
        </p:txBody>
      </p:sp>
      <p:pic>
        <p:nvPicPr>
          <p:cNvPr id="11" name="Picture 10" descr="r2.png"/>
          <p:cNvPicPr>
            <a:picLocks noChangeAspect="1"/>
          </p:cNvPicPr>
          <p:nvPr/>
        </p:nvPicPr>
        <p:blipFill>
          <a:blip r:embed="rId4"/>
          <a:stretch>
            <a:fillRect/>
          </a:stretch>
        </p:blipFill>
        <p:spPr>
          <a:xfrm>
            <a:off x="6217920" y="1737360"/>
            <a:ext cx="5440680" cy="2276435"/>
          </a:xfrm>
          <a:prstGeom prst="rect">
            <a:avLst/>
          </a:prstGeom>
          <a:ln w="25400">
            <a:solidFill>
              <a:srgbClr val="F5E8C7"/>
            </a:solidFill>
          </a:ln>
        </p:spPr>
      </p:pic>
      <p:sp>
        <p:nvSpPr>
          <p:cNvPr id="12" name="Rectangle 11"/>
          <p:cNvSpPr/>
          <p:nvPr/>
        </p:nvSpPr>
        <p:spPr>
          <a:xfrm>
            <a:off x="548640" y="4754880"/>
            <a:ext cx="11109960" cy="132588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4846320"/>
            <a:ext cx="10835640" cy="1143000"/>
          </a:xfrm>
          <a:prstGeom prst="rect">
            <a:avLst/>
          </a:prstGeom>
          <a:noFill/>
        </p:spPr>
        <p:txBody>
          <a:bodyPr wrap="square">
            <a:spAutoFit/>
          </a:bodyPr>
          <a:lstStyle/>
          <a:p>
            <a:pPr>
              <a:spcAft>
                <a:spcPts val="600"/>
              </a:spcAft>
            </a:pPr>
            <a:r>
              <a:rPr sz="1600" b="1">
                <a:solidFill>
                  <a:srgbClr val="1E3A8A"/>
                </a:solidFill>
                <a:latin typeface="Calibri"/>
              </a:rPr>
              <a:t>Also checked: </a:t>
            </a:r>
            <a:r>
              <a:rPr sz="1600">
                <a:solidFill>
                  <a:srgbClr val="47423E"/>
                </a:solidFill>
                <a:latin typeface="Calibri"/>
              </a:rPr>
              <a:t>end time later than start time · valid email and 10-digit phone · amount &gt; 0 · next maintenance date after maintenance date</a:t>
            </a:r>
          </a:p>
          <a:p>
            <a:pPr>
              <a:spcAft>
                <a:spcPts val="600"/>
              </a:spcAft>
            </a:pPr>
            <a:r>
              <a:rPr sz="1600" b="1">
                <a:solidFill>
                  <a:srgbClr val="1E3A8A"/>
                </a:solidFill>
                <a:latin typeface="Calibri"/>
              </a:rPr>
              <a:t>Database level: </a:t>
            </a:r>
            <a:r>
              <a:rPr sz="1600">
                <a:solidFill>
                  <a:srgbClr val="47423E"/>
                </a:solidFill>
                <a:latin typeface="Calibri"/>
              </a:rPr>
              <a:t>UNIQUE (email, serial number), CHECK, NOT NULL and foreign keys reject bad data even if the UI is bypassed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SQL REPORTS</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JOIN · GROUP BY · aggregate functions on the live database</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10</a:t>
            </a:r>
          </a:p>
        </p:txBody>
      </p:sp>
      <p:pic>
        <p:nvPicPr>
          <p:cNvPr id="6" name="Picture 5" descr="rep.png"/>
          <p:cNvPicPr>
            <a:picLocks noChangeAspect="1"/>
          </p:cNvPicPr>
          <p:nvPr/>
        </p:nvPicPr>
        <p:blipFill>
          <a:blip r:embed="rId3"/>
          <a:stretch>
            <a:fillRect/>
          </a:stretch>
        </p:blipFill>
        <p:spPr>
          <a:xfrm>
            <a:off x="548640" y="1417320"/>
            <a:ext cx="6766560" cy="2553418"/>
          </a:xfrm>
          <a:prstGeom prst="rect">
            <a:avLst/>
          </a:prstGeom>
          <a:ln w="25400">
            <a:solidFill>
              <a:srgbClr val="F5E8C7"/>
            </a:solidFill>
          </a:ln>
        </p:spPr>
      </p:pic>
      <p:pic>
        <p:nvPicPr>
          <p:cNvPr id="7" name="Picture 6" descr="rep2.png"/>
          <p:cNvPicPr>
            <a:picLocks noChangeAspect="1"/>
          </p:cNvPicPr>
          <p:nvPr/>
        </p:nvPicPr>
        <p:blipFill>
          <a:blip r:embed="rId4"/>
          <a:stretch>
            <a:fillRect/>
          </a:stretch>
        </p:blipFill>
        <p:spPr>
          <a:xfrm>
            <a:off x="548640" y="4114800"/>
            <a:ext cx="4480560" cy="2093343"/>
          </a:xfrm>
          <a:prstGeom prst="rect">
            <a:avLst/>
          </a:prstGeom>
          <a:ln w="25400">
            <a:solidFill>
              <a:srgbClr val="F5E8C7"/>
            </a:solidFill>
          </a:ln>
        </p:spPr>
      </p:pic>
      <p:sp>
        <p:nvSpPr>
          <p:cNvPr id="8" name="Rectangle 7"/>
          <p:cNvSpPr/>
          <p:nvPr/>
        </p:nvSpPr>
        <p:spPr>
          <a:xfrm>
            <a:off x="7498079" y="1417320"/>
            <a:ext cx="4160520" cy="493776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35240" y="1508760"/>
            <a:ext cx="3886200" cy="4754880"/>
          </a:xfrm>
          <a:prstGeom prst="rect">
            <a:avLst/>
          </a:prstGeom>
          <a:noFill/>
        </p:spPr>
        <p:txBody>
          <a:bodyPr wrap="square">
            <a:spAutoFit/>
          </a:bodyPr>
          <a:lstStyle/>
          <a:p>
            <a:pPr>
              <a:spcAft>
                <a:spcPts val="600"/>
              </a:spcAft>
            </a:pPr>
            <a:r>
              <a:rPr sz="1400" b="1">
                <a:solidFill>
                  <a:srgbClr val="1E3A8A"/>
                </a:solidFill>
                <a:latin typeface="Calibri"/>
              </a:rPr>
              <a:t>Booking details: </a:t>
            </a:r>
            <a:r>
              <a:rPr sz="1400">
                <a:solidFill>
                  <a:srgbClr val="47423E"/>
                </a:solidFill>
                <a:latin typeface="Calibri"/>
              </a:rPr>
              <a:t>4-table JOIN (BOOKING, USER, EQUIPMENT, LABORATORY)</a:t>
            </a:r>
          </a:p>
          <a:p>
            <a:pPr>
              <a:spcAft>
                <a:spcPts val="600"/>
              </a:spcAft>
            </a:pPr>
            <a:r>
              <a:rPr sz="1400" b="1">
                <a:solidFill>
                  <a:srgbClr val="1E3A8A"/>
                </a:solidFill>
                <a:latin typeface="Calibri"/>
              </a:rPr>
              <a:t>Utilisation: </a:t>
            </a:r>
            <a:r>
              <a:rPr sz="1400">
                <a:solidFill>
                  <a:srgbClr val="47423E"/>
                </a:solidFill>
                <a:latin typeface="Calibri"/>
              </a:rPr>
              <a:t>COUNT + GROUP BY per equipment</a:t>
            </a:r>
          </a:p>
          <a:p>
            <a:pPr>
              <a:spcAft>
                <a:spcPts val="600"/>
              </a:spcAft>
            </a:pPr>
            <a:r>
              <a:rPr sz="1400" b="1">
                <a:solidFill>
                  <a:srgbClr val="1E3A8A"/>
                </a:solidFill>
                <a:latin typeface="Calibri"/>
              </a:rPr>
              <a:t>Maintenance overdue: </a:t>
            </a:r>
            <a:r>
              <a:rPr sz="1400">
                <a:solidFill>
                  <a:srgbClr val="47423E"/>
                </a:solidFill>
                <a:latin typeface="Calibri"/>
              </a:rPr>
              <a:t>next_maintenance_date earlier than today</a:t>
            </a:r>
          </a:p>
          <a:p>
            <a:pPr>
              <a:spcAft>
                <a:spcPts val="600"/>
              </a:spcAft>
            </a:pPr>
            <a:r>
              <a:rPr sz="1400" b="1">
                <a:solidFill>
                  <a:srgbClr val="1E3A8A"/>
                </a:solidFill>
                <a:latin typeface="Calibri"/>
              </a:rPr>
              <a:t>Needs attention: </a:t>
            </a:r>
            <a:r>
              <a:rPr sz="1400">
                <a:solidFill>
                  <a:srgbClr val="47423E"/>
                </a:solidFill>
                <a:latin typeface="Calibri"/>
              </a:rPr>
              <a:t>equipment Under Maintenance or Damaged</a:t>
            </a:r>
          </a:p>
          <a:p>
            <a:pPr>
              <a:spcAft>
                <a:spcPts val="600"/>
              </a:spcAft>
            </a:pPr>
            <a:r>
              <a:rPr sz="1400" b="1">
                <a:solidFill>
                  <a:srgbClr val="1E3A8A"/>
                </a:solidFill>
                <a:latin typeface="Calibri"/>
              </a:rPr>
              <a:t>Payments: </a:t>
            </a:r>
            <a:r>
              <a:rPr sz="1400">
                <a:solidFill>
                  <a:srgbClr val="47423E"/>
                </a:solidFill>
                <a:latin typeface="Calibri"/>
              </a:rPr>
              <a:t>SUM and COUNT by status</a:t>
            </a:r>
          </a:p>
          <a:p>
            <a:pPr>
              <a:spcAft>
                <a:spcPts val="600"/>
              </a:spcAft>
            </a:pPr>
            <a:r>
              <a:rPr sz="1400" b="1">
                <a:solidFill>
                  <a:srgbClr val="1E3A8A"/>
                </a:solidFill>
                <a:latin typeface="Calibri"/>
              </a:rPr>
              <a:t>Ratings: </a:t>
            </a:r>
            <a:r>
              <a:rPr sz="1400">
                <a:solidFill>
                  <a:srgbClr val="47423E"/>
                </a:solidFill>
                <a:latin typeface="Calibri"/>
              </a:rPr>
              <a:t>AVG(rating) per equipment, joined through bookings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TESTING</a:t>
            </a:r>
          </a:p>
        </p:txBody>
      </p:sp>
      <p:sp>
        <p:nvSpPr>
          <p:cNvPr id="3" name="TextBox 2"/>
          <p:cNvSpPr txBox="1"/>
          <p:nvPr/>
        </p:nvSpPr>
        <p:spPr>
          <a:xfrm>
            <a:off x="548640" y="960120"/>
            <a:ext cx="11064240" cy="365760"/>
          </a:xfrm>
          <a:prstGeom prst="rect">
            <a:avLst/>
          </a:prstGeom>
          <a:noFill/>
        </p:spPr>
        <p:txBody>
          <a:bodyPr wrap="square" lIns="45720" tIns="18288" rIns="45720" bIns="18288" anchor="t">
            <a:spAutoFit/>
          </a:bodyPr>
          <a:lstStyle/>
          <a:p>
            <a:pPr algn="l"/>
            <a:r>
              <a:rPr sz="1500" b="0">
                <a:solidFill>
                  <a:srgbClr val="F5E8C7"/>
                </a:solidFill>
                <a:latin typeface="Calibri"/>
              </a:rPr>
              <a:t>Test cases run against the UI and the database</a:t>
            </a:r>
          </a:p>
        </p:txBody>
      </p:sp>
      <p:sp>
        <p:nvSpPr>
          <p:cNvPr id="5" name="TextBox 4"/>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11</a:t>
            </a:r>
          </a:p>
        </p:txBody>
      </p:sp>
      <p:graphicFrame>
        <p:nvGraphicFramePr>
          <p:cNvPr id="6" name="Table 5"/>
          <p:cNvGraphicFramePr>
            <a:graphicFrameLocks noGrp="1"/>
          </p:cNvGraphicFramePr>
          <p:nvPr/>
        </p:nvGraphicFramePr>
        <p:xfrm>
          <a:off x="548640" y="1463040"/>
          <a:ext cx="11109960" cy="4754880"/>
        </p:xfrm>
        <a:graphic>
          <a:graphicData uri="http://schemas.openxmlformats.org/drawingml/2006/table">
            <a:tbl>
              <a:tblPr firstRow="1" bandRow="1">
                <a:tableStyleId>{5C22544A-7EE6-4342-B048-85BDC9FD1C3A}</a:tableStyleId>
              </a:tblPr>
              <a:tblGrid>
                <a:gridCol w="54864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432261">
                <a:tc>
                  <a:txBody>
                    <a:bodyPr/>
                    <a:lstStyle/>
                    <a:p>
                      <a:pPr algn="ctr"/>
                      <a:r>
                        <a:rPr sz="1300" b="1">
                          <a:solidFill>
                            <a:srgbClr val="F5E8C7"/>
                          </a:solidFill>
                          <a:latin typeface="Calibri"/>
                        </a:rPr>
                        <a:t>#</a:t>
                      </a:r>
                    </a:p>
                  </a:txBody>
                  <a:tcPr anchor="ctr">
                    <a:solidFill>
                      <a:srgbClr val="1E3A8A"/>
                    </a:solidFill>
                  </a:tcPr>
                </a:tc>
                <a:tc>
                  <a:txBody>
                    <a:bodyPr/>
                    <a:lstStyle/>
                    <a:p>
                      <a:r>
                        <a:rPr sz="1300" b="1">
                          <a:solidFill>
                            <a:srgbClr val="F5E8C7"/>
                          </a:solidFill>
                          <a:latin typeface="Calibri"/>
                        </a:rPr>
                        <a:t>Test case</a:t>
                      </a:r>
                    </a:p>
                  </a:txBody>
                  <a:tcPr anchor="ctr">
                    <a:solidFill>
                      <a:srgbClr val="1E3A8A"/>
                    </a:solidFill>
                  </a:tcPr>
                </a:tc>
                <a:tc>
                  <a:txBody>
                    <a:bodyPr/>
                    <a:lstStyle/>
                    <a:p>
                      <a:r>
                        <a:rPr sz="1300" b="1">
                          <a:solidFill>
                            <a:srgbClr val="F5E8C7"/>
                          </a:solidFill>
                          <a:latin typeface="Calibri"/>
                        </a:rPr>
                        <a:t>Expected result</a:t>
                      </a:r>
                    </a:p>
                  </a:txBody>
                  <a:tcPr anchor="ctr">
                    <a:solidFill>
                      <a:srgbClr val="1E3A8A"/>
                    </a:solidFill>
                  </a:tcPr>
                </a:tc>
                <a:tc>
                  <a:txBody>
                    <a:bodyPr/>
                    <a:lstStyle/>
                    <a:p>
                      <a:pPr algn="ctr"/>
                      <a:r>
                        <a:rPr sz="1300" b="1">
                          <a:solidFill>
                            <a:srgbClr val="F5E8C7"/>
                          </a:solidFill>
                          <a:latin typeface="Calibri"/>
                        </a:rPr>
                        <a:t>Result</a:t>
                      </a:r>
                    </a:p>
                  </a:txBody>
                  <a:tcPr anchor="ctr">
                    <a:solidFill>
                      <a:srgbClr val="1E3A8A"/>
                    </a:solidFill>
                  </a:tcPr>
                </a:tc>
                <a:extLst>
                  <a:ext uri="{0D108BD9-81ED-4DB2-BD59-A6C34878D82A}">
                    <a16:rowId xmlns:a16="http://schemas.microsoft.com/office/drawing/2014/main" val="10000"/>
                  </a:ext>
                </a:extLst>
              </a:tr>
              <a:tr h="432261">
                <a:tc>
                  <a:txBody>
                    <a:bodyPr/>
                    <a:lstStyle/>
                    <a:p>
                      <a:pPr algn="ctr"/>
                      <a:r>
                        <a:rPr sz="1300" b="0">
                          <a:solidFill>
                            <a:srgbClr val="47423E"/>
                          </a:solidFill>
                          <a:latin typeface="Calibri"/>
                        </a:rPr>
                        <a:t>1</a:t>
                      </a:r>
                    </a:p>
                  </a:txBody>
                  <a:tcPr anchor="ctr">
                    <a:solidFill>
                      <a:srgbClr val="F5E8C7"/>
                    </a:solidFill>
                  </a:tcPr>
                </a:tc>
                <a:tc>
                  <a:txBody>
                    <a:bodyPr/>
                    <a:lstStyle/>
                    <a:p>
                      <a:r>
                        <a:rPr sz="1300" b="0">
                          <a:solidFill>
                            <a:srgbClr val="47423E"/>
                          </a:solidFill>
                          <a:latin typeface="Calibri"/>
                        </a:rPr>
                        <a:t>Open each of the 10 tables</a:t>
                      </a:r>
                    </a:p>
                  </a:txBody>
                  <a:tcPr anchor="ctr">
                    <a:solidFill>
                      <a:srgbClr val="F5E8C7"/>
                    </a:solidFill>
                  </a:tcPr>
                </a:tc>
                <a:tc>
                  <a:txBody>
                    <a:bodyPr/>
                    <a:lstStyle/>
                    <a:p>
                      <a:r>
                        <a:rPr sz="1300" b="0">
                          <a:solidFill>
                            <a:srgbClr val="47423E"/>
                          </a:solidFill>
                          <a:latin typeface="Calibri"/>
                        </a:rPr>
                        <a:t>Rows displayed with names for FKs</a:t>
                      </a:r>
                    </a:p>
                  </a:txBody>
                  <a:tcPr anchor="ctr">
                    <a:solidFill>
                      <a:srgbClr val="F5E8C7"/>
                    </a:solidFill>
                  </a:tcPr>
                </a:tc>
                <a:tc>
                  <a:txBody>
                    <a:bodyPr/>
                    <a:lstStyle/>
                    <a:p>
                      <a:pPr algn="ctr"/>
                      <a:r>
                        <a:rPr sz="1300" b="1">
                          <a:solidFill>
                            <a:srgbClr val="1F7A4D"/>
                          </a:solidFill>
                          <a:latin typeface="Calibri"/>
                        </a:rPr>
                        <a:t>Pass</a:t>
                      </a:r>
                    </a:p>
                  </a:txBody>
                  <a:tcPr anchor="ctr">
                    <a:solidFill>
                      <a:srgbClr val="F5E8C7"/>
                    </a:solidFill>
                  </a:tcPr>
                </a:tc>
                <a:extLst>
                  <a:ext uri="{0D108BD9-81ED-4DB2-BD59-A6C34878D82A}">
                    <a16:rowId xmlns:a16="http://schemas.microsoft.com/office/drawing/2014/main" val="10001"/>
                  </a:ext>
                </a:extLst>
              </a:tr>
              <a:tr h="432261">
                <a:tc>
                  <a:txBody>
                    <a:bodyPr/>
                    <a:lstStyle/>
                    <a:p>
                      <a:pPr algn="ctr"/>
                      <a:r>
                        <a:rPr sz="1300" b="0">
                          <a:solidFill>
                            <a:srgbClr val="47423E"/>
                          </a:solidFill>
                          <a:latin typeface="Calibri"/>
                        </a:rPr>
                        <a:t>2</a:t>
                      </a:r>
                    </a:p>
                  </a:txBody>
                  <a:tcPr anchor="ctr">
                    <a:solidFill>
                      <a:srgbClr val="FBF4DF"/>
                    </a:solidFill>
                  </a:tcPr>
                </a:tc>
                <a:tc>
                  <a:txBody>
                    <a:bodyPr/>
                    <a:lstStyle/>
                    <a:p>
                      <a:r>
                        <a:rPr sz="1300" b="0">
                          <a:solidFill>
                            <a:srgbClr val="47423E"/>
                          </a:solidFill>
                          <a:latin typeface="Calibri"/>
                        </a:rPr>
                        <a:t>Insert valid booking</a:t>
                      </a:r>
                    </a:p>
                  </a:txBody>
                  <a:tcPr anchor="ctr">
                    <a:solidFill>
                      <a:srgbClr val="FBF4DF"/>
                    </a:solidFill>
                  </a:tcPr>
                </a:tc>
                <a:tc>
                  <a:txBody>
                    <a:bodyPr/>
                    <a:lstStyle/>
                    <a:p>
                      <a:r>
                        <a:rPr sz="1300" b="0">
                          <a:solidFill>
                            <a:srgbClr val="47423E"/>
                          </a:solidFill>
                          <a:latin typeface="Calibri"/>
                        </a:rPr>
                        <a:t>Row added, count 30 → 31</a:t>
                      </a:r>
                    </a:p>
                  </a:txBody>
                  <a:tcPr anchor="ctr">
                    <a:solidFill>
                      <a:srgbClr val="FBF4DF"/>
                    </a:solidFill>
                  </a:tcPr>
                </a:tc>
                <a:tc>
                  <a:txBody>
                    <a:bodyPr/>
                    <a:lstStyle/>
                    <a:p>
                      <a:pPr algn="ctr"/>
                      <a:r>
                        <a:rPr sz="1300" b="1">
                          <a:solidFill>
                            <a:srgbClr val="1F7A4D"/>
                          </a:solidFill>
                          <a:latin typeface="Calibri"/>
                        </a:rPr>
                        <a:t>Pass</a:t>
                      </a:r>
                    </a:p>
                  </a:txBody>
                  <a:tcPr anchor="ctr">
                    <a:solidFill>
                      <a:srgbClr val="FBF4DF"/>
                    </a:solidFill>
                  </a:tcPr>
                </a:tc>
                <a:extLst>
                  <a:ext uri="{0D108BD9-81ED-4DB2-BD59-A6C34878D82A}">
                    <a16:rowId xmlns:a16="http://schemas.microsoft.com/office/drawing/2014/main" val="10002"/>
                  </a:ext>
                </a:extLst>
              </a:tr>
              <a:tr h="432261">
                <a:tc>
                  <a:txBody>
                    <a:bodyPr/>
                    <a:lstStyle/>
                    <a:p>
                      <a:pPr algn="ctr"/>
                      <a:r>
                        <a:rPr sz="1300" b="0">
                          <a:solidFill>
                            <a:srgbClr val="47423E"/>
                          </a:solidFill>
                          <a:latin typeface="Calibri"/>
                        </a:rPr>
                        <a:t>3</a:t>
                      </a:r>
                    </a:p>
                  </a:txBody>
                  <a:tcPr anchor="ctr">
                    <a:solidFill>
                      <a:srgbClr val="F5E8C7"/>
                    </a:solidFill>
                  </a:tcPr>
                </a:tc>
                <a:tc>
                  <a:txBody>
                    <a:bodyPr/>
                    <a:lstStyle/>
                    <a:p>
                      <a:r>
                        <a:rPr sz="1300" b="0">
                          <a:solidFill>
                            <a:srgbClr val="47423E"/>
                          </a:solidFill>
                          <a:latin typeface="Calibri"/>
                        </a:rPr>
                        <a:t>Insert booking that overlaps a confirmed slot</a:t>
                      </a:r>
                    </a:p>
                  </a:txBody>
                  <a:tcPr anchor="ctr">
                    <a:solidFill>
                      <a:srgbClr val="F5E8C7"/>
                    </a:solidFill>
                  </a:tcPr>
                </a:tc>
                <a:tc>
                  <a:txBody>
                    <a:bodyPr/>
                    <a:lstStyle/>
                    <a:p>
                      <a:r>
                        <a:rPr sz="1300" b="0">
                          <a:solidFill>
                            <a:srgbClr val="47423E"/>
                          </a:solidFill>
                          <a:latin typeface="Calibri"/>
                        </a:rPr>
                        <a:t>Rejected - time clash message</a:t>
                      </a:r>
                    </a:p>
                  </a:txBody>
                  <a:tcPr anchor="ctr">
                    <a:solidFill>
                      <a:srgbClr val="F5E8C7"/>
                    </a:solidFill>
                  </a:tcPr>
                </a:tc>
                <a:tc>
                  <a:txBody>
                    <a:bodyPr/>
                    <a:lstStyle/>
                    <a:p>
                      <a:pPr algn="ctr"/>
                      <a:r>
                        <a:rPr sz="1300" b="1">
                          <a:solidFill>
                            <a:srgbClr val="1F7A4D"/>
                          </a:solidFill>
                          <a:latin typeface="Calibri"/>
                        </a:rPr>
                        <a:t>Pass</a:t>
                      </a:r>
                    </a:p>
                  </a:txBody>
                  <a:tcPr anchor="ctr">
                    <a:solidFill>
                      <a:srgbClr val="F5E8C7"/>
                    </a:solidFill>
                  </a:tcPr>
                </a:tc>
                <a:extLst>
                  <a:ext uri="{0D108BD9-81ED-4DB2-BD59-A6C34878D82A}">
                    <a16:rowId xmlns:a16="http://schemas.microsoft.com/office/drawing/2014/main" val="10003"/>
                  </a:ext>
                </a:extLst>
              </a:tr>
              <a:tr h="432261">
                <a:tc>
                  <a:txBody>
                    <a:bodyPr/>
                    <a:lstStyle/>
                    <a:p>
                      <a:pPr algn="ctr"/>
                      <a:r>
                        <a:rPr sz="1300" b="0">
                          <a:solidFill>
                            <a:srgbClr val="47423E"/>
                          </a:solidFill>
                          <a:latin typeface="Calibri"/>
                        </a:rPr>
                        <a:t>4</a:t>
                      </a:r>
                    </a:p>
                  </a:txBody>
                  <a:tcPr anchor="ctr">
                    <a:solidFill>
                      <a:srgbClr val="FBF4DF"/>
                    </a:solidFill>
                  </a:tcPr>
                </a:tc>
                <a:tc>
                  <a:txBody>
                    <a:bodyPr/>
                    <a:lstStyle/>
                    <a:p>
                      <a:r>
                        <a:rPr sz="1300" b="0">
                          <a:solidFill>
                            <a:srgbClr val="47423E"/>
                          </a:solidFill>
                          <a:latin typeface="Calibri"/>
                        </a:rPr>
                        <a:t>Insert booking for equipment under maintenance</a:t>
                      </a:r>
                    </a:p>
                  </a:txBody>
                  <a:tcPr anchor="ctr">
                    <a:solidFill>
                      <a:srgbClr val="FBF4DF"/>
                    </a:solidFill>
                  </a:tcPr>
                </a:tc>
                <a:tc>
                  <a:txBody>
                    <a:bodyPr/>
                    <a:lstStyle/>
                    <a:p>
                      <a:r>
                        <a:rPr sz="1300" b="0">
                          <a:solidFill>
                            <a:srgbClr val="47423E"/>
                          </a:solidFill>
                          <a:latin typeface="Calibri"/>
                        </a:rPr>
                        <a:t>Rejected - cannot be booked</a:t>
                      </a:r>
                    </a:p>
                  </a:txBody>
                  <a:tcPr anchor="ctr">
                    <a:solidFill>
                      <a:srgbClr val="FBF4DF"/>
                    </a:solidFill>
                  </a:tcPr>
                </a:tc>
                <a:tc>
                  <a:txBody>
                    <a:bodyPr/>
                    <a:lstStyle/>
                    <a:p>
                      <a:pPr algn="ctr"/>
                      <a:r>
                        <a:rPr sz="1300" b="1">
                          <a:solidFill>
                            <a:srgbClr val="1F7A4D"/>
                          </a:solidFill>
                          <a:latin typeface="Calibri"/>
                        </a:rPr>
                        <a:t>Pass</a:t>
                      </a:r>
                    </a:p>
                  </a:txBody>
                  <a:tcPr anchor="ctr">
                    <a:solidFill>
                      <a:srgbClr val="FBF4DF"/>
                    </a:solidFill>
                  </a:tcPr>
                </a:tc>
                <a:extLst>
                  <a:ext uri="{0D108BD9-81ED-4DB2-BD59-A6C34878D82A}">
                    <a16:rowId xmlns:a16="http://schemas.microsoft.com/office/drawing/2014/main" val="10004"/>
                  </a:ext>
                </a:extLst>
              </a:tr>
              <a:tr h="432261">
                <a:tc>
                  <a:txBody>
                    <a:bodyPr/>
                    <a:lstStyle/>
                    <a:p>
                      <a:pPr algn="ctr"/>
                      <a:r>
                        <a:rPr sz="1300" b="0">
                          <a:solidFill>
                            <a:srgbClr val="47423E"/>
                          </a:solidFill>
                          <a:latin typeface="Calibri"/>
                        </a:rPr>
                        <a:t>5</a:t>
                      </a:r>
                    </a:p>
                  </a:txBody>
                  <a:tcPr anchor="ctr">
                    <a:solidFill>
                      <a:srgbClr val="F5E8C7"/>
                    </a:solidFill>
                  </a:tcPr>
                </a:tc>
                <a:tc>
                  <a:txBody>
                    <a:bodyPr/>
                    <a:lstStyle/>
                    <a:p>
                      <a:r>
                        <a:rPr sz="1300" b="0">
                          <a:solidFill>
                            <a:srgbClr val="47423E"/>
                          </a:solidFill>
                          <a:latin typeface="Calibri"/>
                        </a:rPr>
                        <a:t>End time earlier than start time</a:t>
                      </a:r>
                    </a:p>
                  </a:txBody>
                  <a:tcPr anchor="ctr">
                    <a:solidFill>
                      <a:srgbClr val="F5E8C7"/>
                    </a:solidFill>
                  </a:tcPr>
                </a:tc>
                <a:tc>
                  <a:txBody>
                    <a:bodyPr/>
                    <a:lstStyle/>
                    <a:p>
                      <a:r>
                        <a:rPr sz="1300" b="0">
                          <a:solidFill>
                            <a:srgbClr val="47423E"/>
                          </a:solidFill>
                          <a:latin typeface="Calibri"/>
                        </a:rPr>
                        <a:t>Rejected</a:t>
                      </a:r>
                    </a:p>
                  </a:txBody>
                  <a:tcPr anchor="ctr">
                    <a:solidFill>
                      <a:srgbClr val="F5E8C7"/>
                    </a:solidFill>
                  </a:tcPr>
                </a:tc>
                <a:tc>
                  <a:txBody>
                    <a:bodyPr/>
                    <a:lstStyle/>
                    <a:p>
                      <a:pPr algn="ctr"/>
                      <a:r>
                        <a:rPr sz="1300" b="1">
                          <a:solidFill>
                            <a:srgbClr val="1F7A4D"/>
                          </a:solidFill>
                          <a:latin typeface="Calibri"/>
                        </a:rPr>
                        <a:t>Pass</a:t>
                      </a:r>
                    </a:p>
                  </a:txBody>
                  <a:tcPr anchor="ctr">
                    <a:solidFill>
                      <a:srgbClr val="F5E8C7"/>
                    </a:solidFill>
                  </a:tcPr>
                </a:tc>
                <a:extLst>
                  <a:ext uri="{0D108BD9-81ED-4DB2-BD59-A6C34878D82A}">
                    <a16:rowId xmlns:a16="http://schemas.microsoft.com/office/drawing/2014/main" val="10005"/>
                  </a:ext>
                </a:extLst>
              </a:tr>
              <a:tr h="432261">
                <a:tc>
                  <a:txBody>
                    <a:bodyPr/>
                    <a:lstStyle/>
                    <a:p>
                      <a:pPr algn="ctr"/>
                      <a:r>
                        <a:rPr sz="1300" b="0">
                          <a:solidFill>
                            <a:srgbClr val="47423E"/>
                          </a:solidFill>
                          <a:latin typeface="Calibri"/>
                        </a:rPr>
                        <a:t>6</a:t>
                      </a:r>
                    </a:p>
                  </a:txBody>
                  <a:tcPr anchor="ctr">
                    <a:solidFill>
                      <a:srgbClr val="FBF4DF"/>
                    </a:solidFill>
                  </a:tcPr>
                </a:tc>
                <a:tc>
                  <a:txBody>
                    <a:bodyPr/>
                    <a:lstStyle/>
                    <a:p>
                      <a:r>
                        <a:rPr sz="1300" b="0">
                          <a:solidFill>
                            <a:srgbClr val="47423E"/>
                          </a:solidFill>
                          <a:latin typeface="Calibri"/>
                        </a:rPr>
                        <a:t>Invalid e-mail / phone number</a:t>
                      </a:r>
                    </a:p>
                  </a:txBody>
                  <a:tcPr anchor="ctr">
                    <a:solidFill>
                      <a:srgbClr val="FBF4DF"/>
                    </a:solidFill>
                  </a:tcPr>
                </a:tc>
                <a:tc>
                  <a:txBody>
                    <a:bodyPr/>
                    <a:lstStyle/>
                    <a:p>
                      <a:r>
                        <a:rPr sz="1300" b="0">
                          <a:solidFill>
                            <a:srgbClr val="47423E"/>
                          </a:solidFill>
                          <a:latin typeface="Calibri"/>
                        </a:rPr>
                        <a:t>Rejected by form validation</a:t>
                      </a:r>
                    </a:p>
                  </a:txBody>
                  <a:tcPr anchor="ctr">
                    <a:solidFill>
                      <a:srgbClr val="FBF4DF"/>
                    </a:solidFill>
                  </a:tcPr>
                </a:tc>
                <a:tc>
                  <a:txBody>
                    <a:bodyPr/>
                    <a:lstStyle/>
                    <a:p>
                      <a:pPr algn="ctr"/>
                      <a:r>
                        <a:rPr sz="1300" b="1">
                          <a:solidFill>
                            <a:srgbClr val="1F7A4D"/>
                          </a:solidFill>
                          <a:latin typeface="Calibri"/>
                        </a:rPr>
                        <a:t>Pass</a:t>
                      </a:r>
                    </a:p>
                  </a:txBody>
                  <a:tcPr anchor="ctr">
                    <a:solidFill>
                      <a:srgbClr val="FBF4DF"/>
                    </a:solidFill>
                  </a:tcPr>
                </a:tc>
                <a:extLst>
                  <a:ext uri="{0D108BD9-81ED-4DB2-BD59-A6C34878D82A}">
                    <a16:rowId xmlns:a16="http://schemas.microsoft.com/office/drawing/2014/main" val="10006"/>
                  </a:ext>
                </a:extLst>
              </a:tr>
              <a:tr h="432261">
                <a:tc>
                  <a:txBody>
                    <a:bodyPr/>
                    <a:lstStyle/>
                    <a:p>
                      <a:pPr algn="ctr"/>
                      <a:r>
                        <a:rPr sz="1300" b="0">
                          <a:solidFill>
                            <a:srgbClr val="47423E"/>
                          </a:solidFill>
                          <a:latin typeface="Calibri"/>
                        </a:rPr>
                        <a:t>7</a:t>
                      </a:r>
                    </a:p>
                  </a:txBody>
                  <a:tcPr anchor="ctr">
                    <a:solidFill>
                      <a:srgbClr val="F5E8C7"/>
                    </a:solidFill>
                  </a:tcPr>
                </a:tc>
                <a:tc>
                  <a:txBody>
                    <a:bodyPr/>
                    <a:lstStyle/>
                    <a:p>
                      <a:r>
                        <a:rPr sz="1300" b="0">
                          <a:solidFill>
                            <a:srgbClr val="47423E"/>
                          </a:solidFill>
                          <a:latin typeface="Calibri"/>
                        </a:rPr>
                        <a:t>Insert user with duplicate e-mail</a:t>
                      </a:r>
                    </a:p>
                  </a:txBody>
                  <a:tcPr anchor="ctr">
                    <a:solidFill>
                      <a:srgbClr val="F5E8C7"/>
                    </a:solidFill>
                  </a:tcPr>
                </a:tc>
                <a:tc>
                  <a:txBody>
                    <a:bodyPr/>
                    <a:lstStyle/>
                    <a:p>
                      <a:r>
                        <a:rPr sz="1300" b="0">
                          <a:solidFill>
                            <a:srgbClr val="47423E"/>
                          </a:solidFill>
                          <a:latin typeface="Calibri"/>
                        </a:rPr>
                        <a:t>Rejected by UNIQUE constraint</a:t>
                      </a:r>
                    </a:p>
                  </a:txBody>
                  <a:tcPr anchor="ctr">
                    <a:solidFill>
                      <a:srgbClr val="F5E8C7"/>
                    </a:solidFill>
                  </a:tcPr>
                </a:tc>
                <a:tc>
                  <a:txBody>
                    <a:bodyPr/>
                    <a:lstStyle/>
                    <a:p>
                      <a:pPr algn="ctr"/>
                      <a:r>
                        <a:rPr sz="1300" b="1">
                          <a:solidFill>
                            <a:srgbClr val="1F7A4D"/>
                          </a:solidFill>
                          <a:latin typeface="Calibri"/>
                        </a:rPr>
                        <a:t>Pass</a:t>
                      </a:r>
                    </a:p>
                  </a:txBody>
                  <a:tcPr anchor="ctr">
                    <a:solidFill>
                      <a:srgbClr val="F5E8C7"/>
                    </a:solidFill>
                  </a:tcPr>
                </a:tc>
                <a:extLst>
                  <a:ext uri="{0D108BD9-81ED-4DB2-BD59-A6C34878D82A}">
                    <a16:rowId xmlns:a16="http://schemas.microsoft.com/office/drawing/2014/main" val="10007"/>
                  </a:ext>
                </a:extLst>
              </a:tr>
              <a:tr h="432261">
                <a:tc>
                  <a:txBody>
                    <a:bodyPr/>
                    <a:lstStyle/>
                    <a:p>
                      <a:pPr algn="ctr"/>
                      <a:r>
                        <a:rPr sz="1300" b="0">
                          <a:solidFill>
                            <a:srgbClr val="47423E"/>
                          </a:solidFill>
                          <a:latin typeface="Calibri"/>
                        </a:rPr>
                        <a:t>8</a:t>
                      </a:r>
                    </a:p>
                  </a:txBody>
                  <a:tcPr anchor="ctr">
                    <a:solidFill>
                      <a:srgbClr val="FBF4DF"/>
                    </a:solidFill>
                  </a:tcPr>
                </a:tc>
                <a:tc>
                  <a:txBody>
                    <a:bodyPr/>
                    <a:lstStyle/>
                    <a:p>
                      <a:r>
                        <a:rPr sz="1300" b="0">
                          <a:solidFill>
                            <a:srgbClr val="47423E"/>
                          </a:solidFill>
                          <a:latin typeface="Calibri"/>
                        </a:rPr>
                        <a:t>Payment amount = 0 / next date before maintenance date</a:t>
                      </a:r>
                    </a:p>
                  </a:txBody>
                  <a:tcPr anchor="ctr">
                    <a:solidFill>
                      <a:srgbClr val="FBF4DF"/>
                    </a:solidFill>
                  </a:tcPr>
                </a:tc>
                <a:tc>
                  <a:txBody>
                    <a:bodyPr/>
                    <a:lstStyle/>
                    <a:p>
                      <a:r>
                        <a:rPr sz="1300" b="0">
                          <a:solidFill>
                            <a:srgbClr val="47423E"/>
                          </a:solidFill>
                          <a:latin typeface="Calibri"/>
                        </a:rPr>
                        <a:t>Rejected</a:t>
                      </a:r>
                    </a:p>
                  </a:txBody>
                  <a:tcPr anchor="ctr">
                    <a:solidFill>
                      <a:srgbClr val="FBF4DF"/>
                    </a:solidFill>
                  </a:tcPr>
                </a:tc>
                <a:tc>
                  <a:txBody>
                    <a:bodyPr/>
                    <a:lstStyle/>
                    <a:p>
                      <a:pPr algn="ctr"/>
                      <a:r>
                        <a:rPr sz="1300" b="1">
                          <a:solidFill>
                            <a:srgbClr val="1F7A4D"/>
                          </a:solidFill>
                          <a:latin typeface="Calibri"/>
                        </a:rPr>
                        <a:t>Pass</a:t>
                      </a:r>
                    </a:p>
                  </a:txBody>
                  <a:tcPr anchor="ctr">
                    <a:solidFill>
                      <a:srgbClr val="FBF4DF"/>
                    </a:solidFill>
                  </a:tcPr>
                </a:tc>
                <a:extLst>
                  <a:ext uri="{0D108BD9-81ED-4DB2-BD59-A6C34878D82A}">
                    <a16:rowId xmlns:a16="http://schemas.microsoft.com/office/drawing/2014/main" val="10008"/>
                  </a:ext>
                </a:extLst>
              </a:tr>
              <a:tr h="432261">
                <a:tc>
                  <a:txBody>
                    <a:bodyPr/>
                    <a:lstStyle/>
                    <a:p>
                      <a:pPr algn="ctr"/>
                      <a:r>
                        <a:rPr sz="1300" b="0">
                          <a:solidFill>
                            <a:srgbClr val="47423E"/>
                          </a:solidFill>
                          <a:latin typeface="Calibri"/>
                        </a:rPr>
                        <a:t>9</a:t>
                      </a:r>
                    </a:p>
                  </a:txBody>
                  <a:tcPr anchor="ctr">
                    <a:solidFill>
                      <a:srgbClr val="F5E8C7"/>
                    </a:solidFill>
                  </a:tcPr>
                </a:tc>
                <a:tc>
                  <a:txBody>
                    <a:bodyPr/>
                    <a:lstStyle/>
                    <a:p>
                      <a:r>
                        <a:rPr sz="1300" b="0">
                          <a:solidFill>
                            <a:srgbClr val="47423E"/>
                          </a:solidFill>
                          <a:latin typeface="Calibri"/>
                        </a:rPr>
                        <a:t>Delete a record with no dependants</a:t>
                      </a:r>
                    </a:p>
                  </a:txBody>
                  <a:tcPr anchor="ctr">
                    <a:solidFill>
                      <a:srgbClr val="F5E8C7"/>
                    </a:solidFill>
                  </a:tcPr>
                </a:tc>
                <a:tc>
                  <a:txBody>
                    <a:bodyPr/>
                    <a:lstStyle/>
                    <a:p>
                      <a:r>
                        <a:rPr sz="1300" b="0">
                          <a:solidFill>
                            <a:srgbClr val="47423E"/>
                          </a:solidFill>
                          <a:latin typeface="Calibri"/>
                        </a:rPr>
                        <a:t>Row removed, count 31 → 30</a:t>
                      </a:r>
                    </a:p>
                  </a:txBody>
                  <a:tcPr anchor="ctr">
                    <a:solidFill>
                      <a:srgbClr val="F5E8C7"/>
                    </a:solidFill>
                  </a:tcPr>
                </a:tc>
                <a:tc>
                  <a:txBody>
                    <a:bodyPr/>
                    <a:lstStyle/>
                    <a:p>
                      <a:pPr algn="ctr"/>
                      <a:r>
                        <a:rPr sz="1300" b="1">
                          <a:solidFill>
                            <a:srgbClr val="1F7A4D"/>
                          </a:solidFill>
                          <a:latin typeface="Calibri"/>
                        </a:rPr>
                        <a:t>Pass</a:t>
                      </a:r>
                    </a:p>
                  </a:txBody>
                  <a:tcPr anchor="ctr">
                    <a:solidFill>
                      <a:srgbClr val="F5E8C7"/>
                    </a:solidFill>
                  </a:tcPr>
                </a:tc>
                <a:extLst>
                  <a:ext uri="{0D108BD9-81ED-4DB2-BD59-A6C34878D82A}">
                    <a16:rowId xmlns:a16="http://schemas.microsoft.com/office/drawing/2014/main" val="10009"/>
                  </a:ext>
                </a:extLst>
              </a:tr>
              <a:tr h="432270">
                <a:tc>
                  <a:txBody>
                    <a:bodyPr/>
                    <a:lstStyle/>
                    <a:p>
                      <a:pPr algn="ctr"/>
                      <a:r>
                        <a:rPr sz="1300" b="0">
                          <a:solidFill>
                            <a:srgbClr val="47423E"/>
                          </a:solidFill>
                          <a:latin typeface="Calibri"/>
                        </a:rPr>
                        <a:t>10</a:t>
                      </a:r>
                    </a:p>
                  </a:txBody>
                  <a:tcPr anchor="ctr">
                    <a:solidFill>
                      <a:srgbClr val="FBF4DF"/>
                    </a:solidFill>
                  </a:tcPr>
                </a:tc>
                <a:tc>
                  <a:txBody>
                    <a:bodyPr/>
                    <a:lstStyle/>
                    <a:p>
                      <a:r>
                        <a:rPr sz="1300" b="0">
                          <a:solidFill>
                            <a:srgbClr val="47423E"/>
                          </a:solidFill>
                          <a:latin typeface="Calibri"/>
                        </a:rPr>
                        <a:t>Delete a record that has dependants</a:t>
                      </a:r>
                    </a:p>
                  </a:txBody>
                  <a:tcPr anchor="ctr">
                    <a:solidFill>
                      <a:srgbClr val="FBF4DF"/>
                    </a:solidFill>
                  </a:tcPr>
                </a:tc>
                <a:tc>
                  <a:txBody>
                    <a:bodyPr/>
                    <a:lstStyle/>
                    <a:p>
                      <a:r>
                        <a:rPr sz="1300" b="0">
                          <a:solidFill>
                            <a:srgbClr val="47423E"/>
                          </a:solidFill>
                          <a:latin typeface="Calibri"/>
                        </a:rPr>
                        <a:t>Refused by foreign key; reason shown</a:t>
                      </a:r>
                    </a:p>
                  </a:txBody>
                  <a:tcPr anchor="ctr">
                    <a:solidFill>
                      <a:srgbClr val="FBF4DF"/>
                    </a:solidFill>
                  </a:tcPr>
                </a:tc>
                <a:tc>
                  <a:txBody>
                    <a:bodyPr/>
                    <a:lstStyle/>
                    <a:p>
                      <a:pPr algn="ctr"/>
                      <a:r>
                        <a:rPr sz="1300" b="1">
                          <a:solidFill>
                            <a:srgbClr val="1F7A4D"/>
                          </a:solidFill>
                          <a:latin typeface="Calibri"/>
                        </a:rPr>
                        <a:t>Pass</a:t>
                      </a:r>
                    </a:p>
                  </a:txBody>
                  <a:tcPr anchor="ctr">
                    <a:solidFill>
                      <a:srgbClr val="FBF4DF"/>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1064240" cy="822960"/>
          </a:xfrm>
          <a:prstGeom prst="rect">
            <a:avLst/>
          </a:prstGeom>
          <a:noFill/>
        </p:spPr>
        <p:txBody>
          <a:bodyPr wrap="square" lIns="45720" tIns="18288" rIns="45720" bIns="18288" anchor="t">
            <a:spAutoFit/>
          </a:bodyPr>
          <a:lstStyle/>
          <a:p>
            <a:pPr algn="l"/>
            <a:r>
              <a:rPr sz="3600" b="0">
                <a:solidFill>
                  <a:srgbClr val="F5E8C7"/>
                </a:solidFill>
                <a:latin typeface="Impact"/>
              </a:rPr>
              <a:t>CONCLUSION &amp; FUTURE ENHANCEMENTS</a:t>
            </a:r>
          </a:p>
        </p:txBody>
      </p:sp>
      <p:sp>
        <p:nvSpPr>
          <p:cNvPr id="4" name="TextBox 3"/>
          <p:cNvSpPr txBox="1"/>
          <p:nvPr/>
        </p:nvSpPr>
        <p:spPr>
          <a:xfrm>
            <a:off x="10972800" y="6473952"/>
            <a:ext cx="731520" cy="274320"/>
          </a:xfrm>
          <a:prstGeom prst="rect">
            <a:avLst/>
          </a:prstGeom>
          <a:noFill/>
        </p:spPr>
        <p:txBody>
          <a:bodyPr wrap="square" lIns="45720" tIns="18288" rIns="45720" bIns="18288" anchor="t">
            <a:spAutoFit/>
          </a:bodyPr>
          <a:lstStyle/>
          <a:p>
            <a:pPr algn="r"/>
            <a:r>
              <a:rPr sz="1000" b="0">
                <a:solidFill>
                  <a:srgbClr val="F5E8C7"/>
                </a:solidFill>
                <a:latin typeface="Calibri"/>
              </a:rPr>
              <a:t>12</a:t>
            </a:r>
          </a:p>
        </p:txBody>
      </p:sp>
      <p:sp>
        <p:nvSpPr>
          <p:cNvPr id="5" name="Rectangle 4"/>
          <p:cNvSpPr/>
          <p:nvPr/>
        </p:nvSpPr>
        <p:spPr>
          <a:xfrm>
            <a:off x="548640" y="1280160"/>
            <a:ext cx="5486400" cy="502920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371600"/>
            <a:ext cx="5212080" cy="4846320"/>
          </a:xfrm>
          <a:prstGeom prst="rect">
            <a:avLst/>
          </a:prstGeom>
          <a:noFill/>
        </p:spPr>
        <p:txBody>
          <a:bodyPr wrap="square">
            <a:spAutoFit/>
          </a:bodyPr>
          <a:lstStyle/>
          <a:p>
            <a:pPr>
              <a:spcAft>
                <a:spcPts val="600"/>
              </a:spcAft>
            </a:pPr>
            <a:r>
              <a:rPr sz="1800" b="1">
                <a:solidFill>
                  <a:srgbClr val="1E3A8A"/>
                </a:solidFill>
                <a:latin typeface="Calibri"/>
              </a:rPr>
              <a:t>Delivered </a:t>
            </a:r>
          </a:p>
          <a:p>
            <a:pPr>
              <a:spcAft>
                <a:spcPts val="600"/>
              </a:spcAft>
            </a:pPr>
            <a:r>
              <a:rPr sz="1800">
                <a:solidFill>
                  <a:srgbClr val="47423E"/>
                </a:solidFill>
                <a:latin typeface="Calibri"/>
              </a:rPr>
              <a:t>•  Normalised MySQL database - 10 tables, PK / FK / CHECK / UNIQUE</a:t>
            </a:r>
          </a:p>
          <a:p>
            <a:pPr>
              <a:spcAft>
                <a:spcPts val="600"/>
              </a:spcAft>
            </a:pPr>
            <a:r>
              <a:rPr sz="1800">
                <a:solidFill>
                  <a:srgbClr val="47423E"/>
                </a:solidFill>
                <a:latin typeface="Calibri"/>
              </a:rPr>
              <a:t>•  Web UI: view, search, insert, delete on every table</a:t>
            </a:r>
          </a:p>
          <a:p>
            <a:pPr>
              <a:spcAft>
                <a:spcPts val="600"/>
              </a:spcAft>
            </a:pPr>
            <a:r>
              <a:rPr sz="1800">
                <a:solidFill>
                  <a:srgbClr val="47423E"/>
                </a:solidFill>
                <a:latin typeface="Calibri"/>
              </a:rPr>
              <a:t>•  Business rules: no double-booking, equipment status, valid dates</a:t>
            </a:r>
          </a:p>
          <a:p>
            <a:pPr>
              <a:spcAft>
                <a:spcPts val="600"/>
              </a:spcAft>
            </a:pPr>
            <a:r>
              <a:rPr sz="1800">
                <a:solidFill>
                  <a:srgbClr val="47423E"/>
                </a:solidFill>
                <a:latin typeface="Calibri"/>
              </a:rPr>
              <a:t>•  Dashboard, live change log and 6 SQL reports</a:t>
            </a:r>
          </a:p>
          <a:p>
            <a:pPr>
              <a:spcAft>
                <a:spcPts val="600"/>
              </a:spcAft>
            </a:pPr>
            <a:r>
              <a:rPr sz="1800">
                <a:solidFill>
                  <a:srgbClr val="47423E"/>
                </a:solidFill>
                <a:latin typeface="Calibri"/>
              </a:rPr>
              <a:t>•  Tested with valid and invalid inputs</a:t>
            </a:r>
          </a:p>
        </p:txBody>
      </p:sp>
      <p:sp>
        <p:nvSpPr>
          <p:cNvPr id="7" name="Rectangle 6"/>
          <p:cNvSpPr/>
          <p:nvPr/>
        </p:nvSpPr>
        <p:spPr>
          <a:xfrm>
            <a:off x="6263640" y="1280160"/>
            <a:ext cx="5394960" cy="5029200"/>
          </a:xfrm>
          <a:prstGeom prst="rect">
            <a:avLst/>
          </a:prstGeom>
          <a:solidFill>
            <a:srgbClr val="F5E8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371600"/>
            <a:ext cx="5120640" cy="4846320"/>
          </a:xfrm>
          <a:prstGeom prst="rect">
            <a:avLst/>
          </a:prstGeom>
          <a:noFill/>
        </p:spPr>
        <p:txBody>
          <a:bodyPr wrap="square">
            <a:spAutoFit/>
          </a:bodyPr>
          <a:lstStyle/>
          <a:p>
            <a:pPr>
              <a:spcAft>
                <a:spcPts val="600"/>
              </a:spcAft>
            </a:pPr>
            <a:r>
              <a:rPr sz="1800" b="1">
                <a:solidFill>
                  <a:srgbClr val="1E3A8A"/>
                </a:solidFill>
                <a:latin typeface="Calibri"/>
              </a:rPr>
              <a:t>Future enhancements </a:t>
            </a:r>
          </a:p>
          <a:p>
            <a:pPr>
              <a:spcAft>
                <a:spcPts val="600"/>
              </a:spcAft>
            </a:pPr>
            <a:r>
              <a:rPr sz="1800">
                <a:solidFill>
                  <a:srgbClr val="47423E"/>
                </a:solidFill>
                <a:latin typeface="Calibri"/>
              </a:rPr>
              <a:t>•  Login with roles (student, faculty, technician, admin)</a:t>
            </a:r>
          </a:p>
          <a:p>
            <a:pPr>
              <a:spcAft>
                <a:spcPts val="600"/>
              </a:spcAft>
            </a:pPr>
            <a:r>
              <a:rPr sz="1800">
                <a:solidFill>
                  <a:srgbClr val="47423E"/>
                </a:solidFill>
                <a:latin typeface="Calibri"/>
              </a:rPr>
              <a:t>•  Edit / update records and booking approval workflow</a:t>
            </a:r>
          </a:p>
          <a:p>
            <a:pPr>
              <a:spcAft>
                <a:spcPts val="600"/>
              </a:spcAft>
            </a:pPr>
            <a:r>
              <a:rPr sz="1800">
                <a:solidFill>
                  <a:srgbClr val="47423E"/>
                </a:solidFill>
                <a:latin typeface="Calibri"/>
              </a:rPr>
              <a:t>•  Automatic e-mail reminders for calibration and maintenance due dates</a:t>
            </a:r>
          </a:p>
          <a:p>
            <a:pPr>
              <a:spcAft>
                <a:spcPts val="600"/>
              </a:spcAft>
            </a:pPr>
            <a:r>
              <a:rPr sz="1800">
                <a:solidFill>
                  <a:srgbClr val="47423E"/>
                </a:solidFill>
                <a:latin typeface="Calibri"/>
              </a:rPr>
              <a:t>•  Online payment gateway integration</a:t>
            </a:r>
          </a:p>
          <a:p>
            <a:pPr>
              <a:spcAft>
                <a:spcPts val="600"/>
              </a:spcAft>
            </a:pPr>
            <a:r>
              <a:rPr sz="1800">
                <a:solidFill>
                  <a:srgbClr val="47423E"/>
                </a:solidFill>
                <a:latin typeface="Calibri"/>
              </a:rPr>
              <a:t>•  QR-code check-in / check-out of equipment</a:t>
            </a:r>
          </a:p>
          <a:p>
            <a:pPr>
              <a:spcAft>
                <a:spcPts val="600"/>
              </a:spcAft>
            </a:pPr>
            <a:r>
              <a:rPr sz="1800">
                <a:solidFill>
                  <a:srgbClr val="47423E"/>
                </a:solidFill>
                <a:latin typeface="Calibri"/>
              </a:rPr>
              <a:t>•  Usage analytics charts and mobile app</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3A8A"/>
        </a:solidFill>
        <a:effectLst/>
      </p:bgPr>
    </p:bg>
    <p:spTree>
      <p:nvGrpSpPr>
        <p:cNvPr id="1" name=""/>
        <p:cNvGrpSpPr/>
        <p:nvPr/>
      </p:nvGrpSpPr>
      <p:grpSpPr>
        <a:xfrm>
          <a:off x="0" y="0"/>
          <a:ext cx="0" cy="0"/>
          <a:chOff x="0" y="0"/>
          <a:chExt cx="0" cy="0"/>
        </a:xfrm>
      </p:grpSpPr>
      <p:sp>
        <p:nvSpPr>
          <p:cNvPr id="2" name="TextBox 1"/>
          <p:cNvSpPr txBox="1"/>
          <p:nvPr/>
        </p:nvSpPr>
        <p:spPr>
          <a:xfrm>
            <a:off x="548640" y="2011680"/>
            <a:ext cx="11064240" cy="1828800"/>
          </a:xfrm>
          <a:prstGeom prst="rect">
            <a:avLst/>
          </a:prstGeom>
          <a:noFill/>
        </p:spPr>
        <p:txBody>
          <a:bodyPr wrap="square" lIns="45720" tIns="18288" rIns="45720" bIns="18288" anchor="t">
            <a:spAutoFit/>
          </a:bodyPr>
          <a:lstStyle/>
          <a:p>
            <a:pPr algn="ctr"/>
            <a:r>
              <a:rPr sz="9600" b="0">
                <a:solidFill>
                  <a:srgbClr val="F5E8C7"/>
                </a:solidFill>
                <a:latin typeface="Impact"/>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1974</Words>
  <Application>Microsoft Office PowerPoint</Application>
  <PresentationFormat>Widescreen</PresentationFormat>
  <Paragraphs>191</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Impact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Shaurya Dhingra (B.Tech_2029)</cp:lastModifiedBy>
  <cp:revision>3</cp:revision>
  <dcterms:created xsi:type="dcterms:W3CDTF">2013-01-27T09:14:16Z</dcterms:created>
  <dcterms:modified xsi:type="dcterms:W3CDTF">2026-10-06T13:54:23Z</dcterms:modified>
  <cp:category/>
</cp:coreProperties>
</file>